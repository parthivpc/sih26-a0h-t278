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Garamond"/>
      <p:regular r:id="rId12"/>
      <p:bold r:id="rId13"/>
      <p:italic r:id="rId14"/>
      <p:boldItalic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Garamond-bold.fntdata"/><Relationship Id="rId12" Type="http://schemas.openxmlformats.org/officeDocument/2006/relationships/font" Target="fonts/Garamon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boldItalic.fntdata"/><Relationship Id="rId14" Type="http://schemas.openxmlformats.org/officeDocument/2006/relationships/font" Target="fonts/Garamond-italic.fntdata"/><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97" name="Google Shape;9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21" name="Google Shape;12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33" name="Google Shape;13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45" name="Google Shape;14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3"/>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5"/>
          <p:cNvSpPr txBox="1"/>
          <p:nvPr>
            <p:ph idx="1" type="body"/>
          </p:nvPr>
        </p:nvSpPr>
        <p:spPr>
          <a:xfrm>
            <a:off x="609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6197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9"/>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10"/>
          <p:cNvSpPr/>
          <p:nvPr>
            <p:ph idx="2" type="pic"/>
          </p:nvPr>
        </p:nvSpPr>
        <p:spPr>
          <a:xfrm>
            <a:off x="2389717" y="612775"/>
            <a:ext cx="7315200" cy="4114800"/>
          </a:xfrm>
          <a:prstGeom prst="rect">
            <a:avLst/>
          </a:prstGeom>
          <a:noFill/>
          <a:ln>
            <a:noFill/>
          </a:ln>
        </p:spPr>
      </p:sp>
      <p:sp>
        <p:nvSpPr>
          <p:cNvPr id="68" name="Google Shape;68;p1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580606" y="-1875631"/>
            <a:ext cx="5030788"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285038" y="1828804"/>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9pPr>
          </a:lstStyle>
          <a:p/>
        </p:txBody>
      </p:sp>
      <p:sp>
        <p:nvSpPr>
          <p:cNvPr id="11" name="Google Shape;11;p1"/>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Oswald"/>
                <a:ea typeface="Oswald"/>
                <a:cs typeface="Oswald"/>
                <a:sym typeface="Oswald"/>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Oswald"/>
                <a:ea typeface="Oswald"/>
                <a:cs typeface="Oswald"/>
                <a:sym typeface="Oswald"/>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Oswald"/>
                <a:ea typeface="Oswald"/>
                <a:cs typeface="Oswald"/>
                <a:sym typeface="Oswa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Oswald"/>
                <a:ea typeface="Oswald"/>
                <a:cs typeface="Oswald"/>
                <a:sym typeface="Oswa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etvbharat.com/en/bharat/141-die-in-coal-mine-accidents-in-two-years-government-enn26081305600?utm_source=gemini" TargetMode="External"/><Relationship Id="rId4" Type="http://schemas.openxmlformats.org/officeDocument/2006/relationships/hyperlink" Target="https://www.etvbharat.com/en/bharat/141-die-in-coal-mine-accidents-in-two-years-government-enn26081305600?utm_source=gemini" TargetMode="External"/><Relationship Id="rId11" Type="http://schemas.openxmlformats.org/officeDocument/2006/relationships/image" Target="../media/image1.png"/><Relationship Id="rId10" Type="http://schemas.openxmlformats.org/officeDocument/2006/relationships/hyperlink" Target="https://ndrf.gov.in/sites/default/files/Borewell%20Rescue%20Precis.pdf" TargetMode="External"/><Relationship Id="rId9" Type="http://schemas.openxmlformats.org/officeDocument/2006/relationships/hyperlink" Target="https://ndrf.gov.in/sites/default/files/Borewell%20Rescue%20Precis.pdf" TargetMode="External"/><Relationship Id="rId5" Type="http://schemas.openxmlformats.org/officeDocument/2006/relationships/hyperlink" Target="https://www.reporters-collective.in/trc/jharkhands-abandoned-coalfields?utm_source=gemini" TargetMode="External"/><Relationship Id="rId6" Type="http://schemas.openxmlformats.org/officeDocument/2006/relationships/hyperlink" Target="https://www.reporters-collective.in/trc/jharkhands-abandoned-coalfields?utm_source=gemini" TargetMode="External"/><Relationship Id="rId7" Type="http://schemas.openxmlformats.org/officeDocument/2006/relationships/hyperlink" Target="https://assamtribune.com/mine-rescue-op-winded-up-in-meghalaya-cost-rs-35-cr?utm_source=gemini" TargetMode="External"/><Relationship Id="rId8" Type="http://schemas.openxmlformats.org/officeDocument/2006/relationships/hyperlink" Target="https://assamtribune.com/mine-rescue-op-winded-up-in-meghalaya-cost-rs-35-cr?utm_source=gemin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3"/>
          <p:cNvSpPr/>
          <p:nvPr/>
        </p:nvSpPr>
        <p:spPr>
          <a:xfrm>
            <a:off x="152400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 name="Google Shape;89;p13"/>
          <p:cNvSpPr/>
          <p:nvPr/>
        </p:nvSpPr>
        <p:spPr>
          <a:xfrm>
            <a:off x="5656780" y="851521"/>
            <a:ext cx="4638605" cy="5154967"/>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59916" t="0"/>
          <a:stretch/>
        </p:blipFill>
        <p:spPr>
          <a:xfrm>
            <a:off x="6854891" y="1715881"/>
            <a:ext cx="3203509" cy="3426237"/>
          </a:xfrm>
          <a:prstGeom prst="rect">
            <a:avLst/>
          </a:prstGeom>
          <a:noFill/>
          <a:ln>
            <a:noFill/>
          </a:ln>
        </p:spPr>
      </p:pic>
      <p:sp>
        <p:nvSpPr>
          <p:cNvPr id="91" name="Google Shape;91;p13"/>
          <p:cNvSpPr txBox="1"/>
          <p:nvPr>
            <p:ph idx="1" type="subTitle"/>
          </p:nvPr>
        </p:nvSpPr>
        <p:spPr>
          <a:xfrm>
            <a:off x="1245686" y="648614"/>
            <a:ext cx="85344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640"/>
              </a:spcBef>
              <a:spcAft>
                <a:spcPts val="0"/>
              </a:spcAft>
              <a:buClr>
                <a:schemeClr val="dk1"/>
              </a:buClr>
              <a:buSzPts val="3200"/>
              <a:buNone/>
            </a:pPr>
            <a:r>
              <a:rPr b="1" lang="en-IN">
                <a:solidFill>
                  <a:schemeClr val="dk1"/>
                </a:solidFill>
                <a:latin typeface="Times New Roman"/>
                <a:ea typeface="Times New Roman"/>
                <a:cs typeface="Times New Roman"/>
                <a:sym typeface="Times New Roman"/>
              </a:rPr>
              <a:t>TITLE PAGE</a:t>
            </a:r>
            <a:endParaRPr b="1">
              <a:solidFill>
                <a:schemeClr val="dk1"/>
              </a:solidFill>
              <a:latin typeface="Times New Roman"/>
              <a:ea typeface="Times New Roman"/>
              <a:cs typeface="Times New Roman"/>
              <a:sym typeface="Times New Roman"/>
            </a:endParaRPr>
          </a:p>
        </p:txBody>
      </p:sp>
      <p:sp>
        <p:nvSpPr>
          <p:cNvPr id="92" name="Google Shape;92;p13"/>
          <p:cNvSpPr txBox="1"/>
          <p:nvPr>
            <p:ph type="ctrTitle"/>
          </p:nvPr>
        </p:nvSpPr>
        <p:spPr>
          <a:xfrm>
            <a:off x="331286" y="-526757"/>
            <a:ext cx="10363200" cy="20764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4000">
                <a:solidFill>
                  <a:schemeClr val="dk2"/>
                </a:solidFill>
                <a:latin typeface="Garamond"/>
                <a:ea typeface="Garamond"/>
                <a:cs typeface="Garamond"/>
                <a:sym typeface="Garamond"/>
              </a:rPr>
              <a:t>SMART INDIA HACKATHON 2026</a:t>
            </a:r>
            <a:endParaRPr b="1" sz="4000">
              <a:solidFill>
                <a:schemeClr val="dk2"/>
              </a:solidFill>
              <a:latin typeface="Garamond"/>
              <a:ea typeface="Garamond"/>
              <a:cs typeface="Garamond"/>
              <a:sym typeface="Garamond"/>
            </a:endParaRPr>
          </a:p>
        </p:txBody>
      </p:sp>
      <p:sp>
        <p:nvSpPr>
          <p:cNvPr id="93" name="Google Shape;93;p13"/>
          <p:cNvSpPr txBox="1"/>
          <p:nvPr/>
        </p:nvSpPr>
        <p:spPr>
          <a:xfrm>
            <a:off x="331285" y="2076450"/>
            <a:ext cx="6619847" cy="43173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Problem Statement ID – SIH26039</a:t>
            </a:r>
            <a:endParaRPr b="1" i="0" sz="2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Problem Statement Title- Al-Powered Underground Mine Safety, Monitoring and Rescue System.</a:t>
            </a:r>
            <a:endParaRPr b="1" i="0" sz="2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Theme- Smart Automation</a:t>
            </a:r>
            <a:endParaRPr b="1" i="0" sz="2400" u="none" cap="none" strike="noStrike">
              <a:solidFill>
                <a:schemeClr val="dk1"/>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PS Category- Hardware</a:t>
            </a:r>
            <a:endParaRPr b="0" i="0" sz="1400" u="none" cap="none" strike="noStrike">
              <a:solidFill>
                <a:srgbClr val="000000"/>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Team ID- SIH26-A0H-T278</a:t>
            </a:r>
            <a:endParaRPr b="0" i="0" sz="1400" u="none" cap="none" strike="noStrike">
              <a:solidFill>
                <a:srgbClr val="000000"/>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Team Name - Nexus</a:t>
            </a:r>
            <a:endParaRPr b="1" i="0" sz="2400" u="none" cap="none" strike="noStrike">
              <a:solidFill>
                <a:schemeClr val="dk1"/>
              </a:solidFill>
              <a:latin typeface="Arial"/>
              <a:ea typeface="Arial"/>
              <a:cs typeface="Arial"/>
              <a:sym typeface="Arial"/>
            </a:endParaRPr>
          </a:p>
        </p:txBody>
      </p:sp>
      <p:pic>
        <p:nvPicPr>
          <p:cNvPr id="94" name="Google Shape;94;p13"/>
          <p:cNvPicPr preferRelativeResize="0"/>
          <p:nvPr/>
        </p:nvPicPr>
        <p:blipFill rotWithShape="1">
          <a:blip r:embed="rId4">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sp>
        <p:nvSpPr>
          <p:cNvPr id="101" name="Google Shape;101;p14"/>
          <p:cNvSpPr txBox="1"/>
          <p:nvPr>
            <p:ph type="title"/>
          </p:nvPr>
        </p:nvSpPr>
        <p:spPr>
          <a:xfrm>
            <a:off x="182998" y="0"/>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2000"/>
              <a:t>AI-Powered Decentralized Mine Safety &amp; Active Rescue Architecture</a:t>
            </a:r>
            <a:endParaRPr b="1" sz="2000">
              <a:latin typeface="Times New Roman"/>
              <a:ea typeface="Times New Roman"/>
              <a:cs typeface="Times New Roman"/>
              <a:sym typeface="Times New Roman"/>
            </a:endParaRPr>
          </a:p>
        </p:txBody>
      </p:sp>
      <p:sp>
        <p:nvSpPr>
          <p:cNvPr id="102" name="Google Shape;102;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IN">
                <a:solidFill>
                  <a:schemeClr val="lt1"/>
                </a:solidFill>
              </a:rPr>
              <a:t>‹#›</a:t>
            </a:fld>
            <a:endParaRPr b="1">
              <a:solidFill>
                <a:schemeClr val="lt1"/>
              </a:solidFill>
            </a:endParaRPr>
          </a:p>
        </p:txBody>
      </p:sp>
      <p:sp>
        <p:nvSpPr>
          <p:cNvPr id="103" name="Google Shape;103;p14"/>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solidFill>
                  <a:schemeClr val="lt1"/>
                </a:solidFill>
              </a:rPr>
              <a:t>@SIH Idea submission- Template</a:t>
            </a:r>
            <a:endParaRPr/>
          </a:p>
        </p:txBody>
      </p:sp>
      <p:sp>
        <p:nvSpPr>
          <p:cNvPr descr="Your startup LOGO" id="104" name="Google Shape;104;p14"/>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sp>
        <p:nvSpPr>
          <p:cNvPr id="105" name="Google Shape;105;p14"/>
          <p:cNvSpPr txBox="1"/>
          <p:nvPr/>
        </p:nvSpPr>
        <p:spPr>
          <a:xfrm>
            <a:off x="474134" y="1253067"/>
            <a:ext cx="10972799"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Detailed explanation of the proposed solution:</a:t>
            </a:r>
            <a:r>
              <a:rPr b="0" i="0" lang="en-IN" sz="1800" u="none" cap="none" strike="noStrike">
                <a:solidFill>
                  <a:schemeClr val="dk1"/>
                </a:solidFill>
                <a:latin typeface="Calibri"/>
                <a:ea typeface="Calibri"/>
                <a:cs typeface="Calibri"/>
                <a:sym typeface="Calibri"/>
              </a:rPr>
              <a:t> We provide a complete safety net for underground workers. Miners wear a rugged, screen-free wristband that tracks their vitals and detects falls. This connects to "Smart Beacons" on the tunnel walls that constantly sniff the air for toxic gases, sending a real-time safety feed to the surface.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How it addresses the problem:</a:t>
            </a:r>
            <a:r>
              <a:rPr b="0" i="0" lang="en-IN" sz="1800" u="none" cap="none" strike="noStrike">
                <a:solidFill>
                  <a:schemeClr val="dk1"/>
                </a:solidFill>
                <a:latin typeface="Calibri"/>
                <a:ea typeface="Calibri"/>
                <a:cs typeface="Calibri"/>
                <a:sym typeface="Calibri"/>
              </a:rPr>
              <a:t> We engineered this for the harsh reality of a mine. Since GPS doesn't work underground, our wall beacons track the miners instead. To stop mud from clogging gas sensors, we moved them off the wrist and onto the walls. Most importantly, if a cave-in cuts the power, the wristband drops into "survival mode," broadcasting a trapped miner's location to rescuers for up to a week.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Innovation and uniqueness of the solution:</a:t>
            </a:r>
            <a:r>
              <a:rPr b="0" i="0" lang="en-IN" sz="1800" u="none" cap="none" strike="noStrike">
                <a:solidFill>
                  <a:schemeClr val="dk1"/>
                </a:solidFill>
                <a:latin typeface="Calibri"/>
                <a:ea typeface="Calibri"/>
                <a:cs typeface="Calibri"/>
                <a:sym typeface="Calibri"/>
              </a:rPr>
              <a:t> </a:t>
            </a:r>
            <a:r>
              <a:rPr b="1" i="0" lang="en-IN" sz="1800" u="none" cap="none" strike="noStrike">
                <a:solidFill>
                  <a:schemeClr val="dk1"/>
                </a:solidFill>
                <a:latin typeface="Calibri"/>
                <a:ea typeface="Calibri"/>
                <a:cs typeface="Calibri"/>
                <a:sym typeface="Calibri"/>
              </a:rPr>
              <a:t>Active AI Rescue (A Digital Lifeline):</a:t>
            </a:r>
            <a:r>
              <a:rPr b="0" i="0" lang="en-IN" sz="1800" u="none" cap="none" strike="noStrike">
                <a:solidFill>
                  <a:schemeClr val="dk1"/>
                </a:solidFill>
                <a:latin typeface="Calibri"/>
                <a:ea typeface="Calibri"/>
                <a:cs typeface="Calibri"/>
                <a:sym typeface="Calibri"/>
              </a:rPr>
              <a:t> This isn't just a dashboard that watches people get hurt. During a disaster, a panicking miner can't read a screen in a smoke-filled tunnel. Instead, our AI instantly finds the safest exit and triggers a glowing LED arrow and strong vibrations on their wrist—guiding them to safety by pure instinct.</a:t>
            </a:r>
            <a:endParaRPr b="0" i="0" sz="1400" u="none" cap="none" strike="noStrike">
              <a:solidFill>
                <a:srgbClr val="000000"/>
              </a:solidFill>
              <a:latin typeface="Arial"/>
              <a:ea typeface="Arial"/>
              <a:cs typeface="Arial"/>
              <a:sym typeface="Arial"/>
            </a:endParaRPr>
          </a:p>
        </p:txBody>
      </p:sp>
      <p:pic>
        <p:nvPicPr>
          <p:cNvPr id="106" name="Google Shape;106;p14"/>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sp>
        <p:nvSpPr>
          <p:cNvPr id="113" name="Google Shape;113;p1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TECHNICAL APPROACH</a:t>
            </a:r>
            <a:endParaRPr/>
          </a:p>
        </p:txBody>
      </p:sp>
      <p:sp>
        <p:nvSpPr>
          <p:cNvPr id="114" name="Google Shape;114;p15"/>
          <p:cNvSpPr txBox="1"/>
          <p:nvPr/>
        </p:nvSpPr>
        <p:spPr>
          <a:xfrm>
            <a:off x="220134" y="1011401"/>
            <a:ext cx="11642100" cy="4710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Technologies to be used (Hardware, Software &amp; Frameworks):</a:t>
            </a:r>
            <a:endParaRPr b="0" i="0" sz="1200" u="none" cap="none" strike="noStrike">
              <a:solidFill>
                <a:schemeClr val="dk1"/>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Hardware (Edge &amp; Nodes):</a:t>
            </a:r>
            <a:r>
              <a:rPr b="0" i="0" lang="en-IN" sz="1200" u="none" cap="none" strike="noStrike">
                <a:solidFill>
                  <a:schemeClr val="dk1"/>
                </a:solidFill>
                <a:latin typeface="Arial"/>
                <a:ea typeface="Arial"/>
                <a:cs typeface="Arial"/>
                <a:sym typeface="Arial"/>
              </a:rPr>
              <a:t> ESP32-C3 microcontrollers for the wearable, and Heltec LoRa V3 (ESP32 + SX1262 LoRa) for the wall beacons.</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Sensor Stack:</a:t>
            </a:r>
            <a:r>
              <a:rPr b="0" i="0" lang="en-IN" sz="1200" u="none" cap="none" strike="noStrike">
                <a:solidFill>
                  <a:schemeClr val="dk1"/>
                </a:solidFill>
                <a:latin typeface="Arial"/>
                <a:ea typeface="Arial"/>
                <a:cs typeface="Arial"/>
                <a:sym typeface="Arial"/>
              </a:rPr>
              <a:t> MAX30102 (HR/SpO2), MPU6050 (IMU fall detection), MQ-4/MQ-7 (Gas simulations), and WS2812B NeoPixel LEDs for screenless navigation.</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Network Protocols:</a:t>
            </a:r>
            <a:r>
              <a:rPr b="0" i="0" lang="en-IN" sz="1200" u="none" cap="none" strike="noStrike">
                <a:solidFill>
                  <a:schemeClr val="dk1"/>
                </a:solidFill>
                <a:latin typeface="Arial"/>
                <a:ea typeface="Arial"/>
                <a:cs typeface="Arial"/>
                <a:sym typeface="Arial"/>
              </a:rPr>
              <a:t> Bluetooth Low Energy (BLE) for short-range proximity tracking, and LoR</a:t>
            </a:r>
            <a:r>
              <a:rPr lang="en-IN" sz="1200">
                <a:solidFill>
                  <a:schemeClr val="dk1"/>
                </a:solidFill>
              </a:rPr>
              <a:t>a P2P</a:t>
            </a:r>
            <a:r>
              <a:rPr b="0" i="0" lang="en-IN" sz="1200" u="none" cap="none" strike="noStrike">
                <a:solidFill>
                  <a:schemeClr val="dk1"/>
                </a:solidFill>
                <a:latin typeface="Arial"/>
                <a:ea typeface="Arial"/>
                <a:cs typeface="Arial"/>
                <a:sym typeface="Arial"/>
              </a:rPr>
              <a:t> (868MHz) for the long-range, self-healing mesh backbone.</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Software &amp; AI Brain:</a:t>
            </a:r>
            <a:r>
              <a:rPr b="0" i="0" lang="en-IN" sz="1200" u="none" cap="none" strike="noStrike">
                <a:solidFill>
                  <a:schemeClr val="dk1"/>
                </a:solidFill>
                <a:latin typeface="Arial"/>
                <a:ea typeface="Arial"/>
                <a:cs typeface="Arial"/>
                <a:sym typeface="Arial"/>
              </a:rPr>
              <a:t> C++ (Vs Code IDE) for embedded device firmware. Python (Flask/Streamlit) for the local surface dashboard. Scikit-learn for the lightweight worker-fatigue ML model, and Dijkstra/A* algorithms for dynamic evacuation pathfinding.</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Methodology and Process for Implementation (The System Flow):</a:t>
            </a:r>
            <a:endParaRPr b="0" i="0" sz="1200" u="none" cap="none" strike="noStrike">
              <a:solidFill>
                <a:schemeClr val="dk1"/>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Data Collection (The Wrist):</a:t>
            </a:r>
            <a:r>
              <a:rPr b="0" i="0" lang="en-IN" sz="1200" u="none" cap="none" strike="noStrike">
                <a:solidFill>
                  <a:schemeClr val="dk1"/>
                </a:solidFill>
                <a:latin typeface="Arial"/>
                <a:ea typeface="Arial"/>
                <a:cs typeface="Arial"/>
                <a:sym typeface="Arial"/>
              </a:rPr>
              <a:t> Wearable continuously tracks vitals and fall status, broadcasting it locally via BLE.</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Environment &amp; Mesh Relay (The Wall):</a:t>
            </a:r>
            <a:r>
              <a:rPr b="0" i="0" lang="en-IN" sz="1200" u="none" cap="none" strike="noStrike">
                <a:solidFill>
                  <a:schemeClr val="dk1"/>
                </a:solidFill>
                <a:latin typeface="Arial"/>
                <a:ea typeface="Arial"/>
                <a:cs typeface="Arial"/>
                <a:sym typeface="Arial"/>
              </a:rPr>
              <a:t> Smart beacons pick up the BLE signal (locating the miner), read local toxic gas levels, and package this data into a LoRa radio packet, bouncing it node-to-node up to the surface.</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AI Processing (The Surface):</a:t>
            </a:r>
            <a:r>
              <a:rPr b="0" i="0" lang="en-IN" sz="1200" u="none" cap="none" strike="noStrike">
                <a:solidFill>
                  <a:schemeClr val="dk1"/>
                </a:solidFill>
                <a:latin typeface="Arial"/>
                <a:ea typeface="Arial"/>
                <a:cs typeface="Arial"/>
                <a:sym typeface="Arial"/>
              </a:rPr>
              <a:t> The local Python dashboard ingests the data. If the ML model detects a crash in vitals or a spike in gas, it triggers an emergency state and calculates the safest escape route around the hazard.</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Active Rescue (The Return Signal):</a:t>
            </a:r>
            <a:r>
              <a:rPr b="0" i="0" lang="en-IN" sz="1200" u="none" cap="none" strike="noStrike">
                <a:solidFill>
                  <a:schemeClr val="dk1"/>
                </a:solidFill>
                <a:latin typeface="Arial"/>
                <a:ea typeface="Arial"/>
                <a:cs typeface="Arial"/>
                <a:sym typeface="Arial"/>
              </a:rPr>
              <a:t> The system shoots a command back down the LoRa mesh to the exact beacon nearest the miner. The miner’s wristband vibrates violently, and the LED ring lights up as a compass, pointing them directly toward the safe exit.</a:t>
            </a:r>
            <a:endParaRPr b="0" i="0" sz="1400" u="none" cap="none" strike="noStrike">
              <a:solidFill>
                <a:srgbClr val="000000"/>
              </a:solidFill>
              <a:latin typeface="Arial"/>
              <a:ea typeface="Arial"/>
              <a:cs typeface="Arial"/>
              <a:sym typeface="Arial"/>
            </a:endParaRPr>
          </a:p>
        </p:txBody>
      </p:sp>
      <p:sp>
        <p:nvSpPr>
          <p:cNvPr id="115" name="Google Shape;115;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IN">
                <a:solidFill>
                  <a:schemeClr val="lt1"/>
                </a:solidFill>
              </a:rPr>
              <a:t>‹#›</a:t>
            </a:fld>
            <a:endParaRPr b="1">
              <a:solidFill>
                <a:schemeClr val="lt1"/>
              </a:solidFill>
            </a:endParaRPr>
          </a:p>
        </p:txBody>
      </p:sp>
      <p:sp>
        <p:nvSpPr>
          <p:cNvPr id="116" name="Google Shape;116;p15"/>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solidFill>
                  <a:schemeClr val="lt1"/>
                </a:solidFill>
              </a:rPr>
              <a:t>@SIH Idea submission- Template</a:t>
            </a:r>
            <a:endParaRPr>
              <a:solidFill>
                <a:schemeClr val="lt1"/>
              </a:solidFill>
            </a:endParaRPr>
          </a:p>
        </p:txBody>
      </p:sp>
      <p:sp>
        <p:nvSpPr>
          <p:cNvPr descr="Your startup LOGO" id="117" name="Google Shape;117;p15"/>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18" name="Google Shape;118;p15"/>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25" name="Google Shape;125;p1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FEASIBILITY AND VIABILITY</a:t>
            </a:r>
            <a:endParaRPr/>
          </a:p>
        </p:txBody>
      </p:sp>
      <p:sp>
        <p:nvSpPr>
          <p:cNvPr id="126" name="Google Shape;126;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27" name="Google Shape;127;p16"/>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28" name="Google Shape;128;p16"/>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29" name="Google Shape;129;p16"/>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
        <p:nvSpPr>
          <p:cNvPr id="130" name="Google Shape;130;p16"/>
          <p:cNvSpPr txBox="1"/>
          <p:nvPr/>
        </p:nvSpPr>
        <p:spPr>
          <a:xfrm>
            <a:off x="1168400" y="1219150"/>
            <a:ext cx="9385200" cy="5338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IN">
                <a:solidFill>
                  <a:schemeClr val="dk1"/>
                </a:solidFill>
              </a:rPr>
              <a:t>Slide 4: Feasibility, Viability &amp; Economics</a:t>
            </a:r>
            <a:endParaRPr b="1">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en-IN" sz="1200">
                <a:solidFill>
                  <a:schemeClr val="dk1"/>
                </a:solidFill>
              </a:rPr>
              <a:t>1. Technical &amp; Operational Feasibility</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IN" sz="1200">
                <a:solidFill>
                  <a:schemeClr val="dk1"/>
                </a:solidFill>
              </a:rPr>
              <a:t>Modular Tech:</a:t>
            </a:r>
            <a:r>
              <a:rPr lang="en-IN" sz="1200">
                <a:solidFill>
                  <a:schemeClr val="dk1"/>
                </a:solidFill>
              </a:rPr>
              <a:t> Uses proven ESP32-C3 for wearables and Heltec LoRa V3 for wall beacons.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Self-Healing Mesh:</a:t>
            </a:r>
            <a:r>
              <a:rPr lang="en-IN" sz="1200">
                <a:solidFill>
                  <a:schemeClr val="dk1"/>
                </a:solidFill>
              </a:rPr>
              <a:t> The 868MHz LoRa network operates independently of mine power, instantly rerouting data if a tunnel collapses.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Zero-Cognitive UX:</a:t>
            </a:r>
            <a:r>
              <a:rPr lang="en-IN" sz="1200">
                <a:solidFill>
                  <a:schemeClr val="dk1"/>
                </a:solidFill>
              </a:rPr>
              <a:t> Haptic feedback and LED compasses guide panicking miners to safety via pure instinct, without needing screens.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Smarter Placement:</a:t>
            </a:r>
            <a:r>
              <a:rPr lang="en-IN" sz="1200">
                <a:solidFill>
                  <a:schemeClr val="dk1"/>
                </a:solidFill>
              </a:rPr>
              <a:t> Mounting gas sensors on walls prevents mud clogging and sensor fouling.</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200">
                <a:solidFill>
                  <a:schemeClr val="dk1"/>
                </a:solidFill>
              </a:rPr>
              <a:t>2. Manufacturing Cost (At 1,000+ Scale)</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IN" sz="1200">
                <a:solidFill>
                  <a:schemeClr val="dk1"/>
                </a:solidFill>
              </a:rPr>
              <a:t>Wearable Wristband (~₹2,800/unit):</a:t>
            </a:r>
            <a:r>
              <a:rPr lang="en-IN" sz="1200">
                <a:solidFill>
                  <a:schemeClr val="dk1"/>
                </a:solidFill>
              </a:rPr>
              <a:t> Includes ESP32-C3, MAX30102 (vitals), MPU6050 (fall detection), haptics, and IP67 rugged casing.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Smart Wall Beacon (~₹8,000/unit):</a:t>
            </a:r>
            <a:r>
              <a:rPr lang="en-IN" sz="1200">
                <a:solidFill>
                  <a:schemeClr val="dk1"/>
                </a:solidFill>
              </a:rPr>
              <a:t> Includes LoRa transceiver, MQ-4/MQ-7 gas sensors, high-capacity battery, and flameproof mounting.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Total Mine Deployment:</a:t>
            </a:r>
            <a:r>
              <a:rPr lang="en-IN" sz="1200">
                <a:solidFill>
                  <a:schemeClr val="dk1"/>
                </a:solidFill>
              </a:rPr>
              <a:t> Outfitting a mid-sized mine (1,000 wearables + 200 beacons) costs ~₹44 Lakh.</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200">
                <a:solidFill>
                  <a:schemeClr val="dk1"/>
                </a:solidFill>
              </a:rPr>
              <a:t>3. Economic Impact &amp; ROI</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IN" sz="1200">
                <a:solidFill>
                  <a:schemeClr val="dk1"/>
                </a:solidFill>
              </a:rPr>
              <a:t>Massive Cost Savings:</a:t>
            </a:r>
            <a:r>
              <a:rPr lang="en-IN" sz="1200">
                <a:solidFill>
                  <a:schemeClr val="dk1"/>
                </a:solidFill>
              </a:rPr>
              <a:t> A one-time ₹44 Lakh setup is a fraction of traditional NDRF rescue logistics, which can cost the exchequer over ₹3.5 Crore per incident.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Liability Reduction:</a:t>
            </a:r>
            <a:r>
              <a:rPr lang="en-IN" sz="1200">
                <a:solidFill>
                  <a:schemeClr val="dk1"/>
                </a:solidFill>
              </a:rPr>
              <a:t> Prevents catastrophic ex-gratia payouts (₹25 Lakh) and insurance claims (₹1 Crore) per worker casualty.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Business Continuity:</a:t>
            </a:r>
            <a:r>
              <a:rPr lang="en-IN" sz="1200">
                <a:solidFill>
                  <a:schemeClr val="dk1"/>
                </a:solidFill>
              </a:rPr>
              <a:t> Catching toxic micro-leaks early prevents fatal explosions and costly, multi-week operational shutdowns.</a:t>
            </a:r>
            <a:endParaRPr sz="1200">
              <a:solidFill>
                <a:schemeClr val="dk1"/>
              </a:solidFill>
            </a:endParaRPr>
          </a:p>
          <a:p>
            <a:pPr indent="0" lvl="1" marL="457200" marR="0" rtl="0" algn="l">
              <a:lnSpc>
                <a:spcPct val="150000"/>
              </a:lnSpc>
              <a:spcBef>
                <a:spcPts val="1200"/>
              </a:spcBef>
              <a:spcAft>
                <a:spcPts val="0"/>
              </a:spcAft>
              <a:buClr>
                <a:srgbClr val="000000"/>
              </a:buClr>
              <a:buSzPts val="1300"/>
              <a:buFont typeface="Arial"/>
              <a:buNone/>
            </a:pPr>
            <a:r>
              <a:t/>
            </a:r>
            <a:endParaRPr b="1" sz="13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37" name="Google Shape;137;p1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IMPACT AND BENEFITS</a:t>
            </a:r>
            <a:endParaRPr/>
          </a:p>
        </p:txBody>
      </p:sp>
      <p:sp>
        <p:nvSpPr>
          <p:cNvPr id="138" name="Google Shape;138;p17"/>
          <p:cNvSpPr txBox="1"/>
          <p:nvPr/>
        </p:nvSpPr>
        <p:spPr>
          <a:xfrm>
            <a:off x="1403349" y="1395437"/>
            <a:ext cx="9385300" cy="374743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Potential impact on the target audience:</a:t>
            </a:r>
            <a:r>
              <a:rPr b="0" i="0" lang="en-IN" sz="1600" u="none" cap="none" strike="noStrike">
                <a:solidFill>
                  <a:schemeClr val="dk1"/>
                </a:solidFill>
                <a:latin typeface="Calibri"/>
                <a:ea typeface="Calibri"/>
                <a:cs typeface="Calibri"/>
                <a:sym typeface="Calibri"/>
              </a:rPr>
              <a:t> Replaces underground panic with a zero-cognitive-load LED navigation system. By actively guiding miners away from hazards, it drastically reduces fatalities caused by roof falls (cave-ins) and toxic gas exposure.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Benefits of the solution:</a:t>
            </a:r>
            <a:endParaRPr b="0" i="0" sz="1600" u="none" cap="none" strike="noStrike">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Social:</a:t>
            </a:r>
            <a:r>
              <a:rPr b="0" i="0" lang="en-IN" sz="1600" u="none" cap="none" strike="noStrike">
                <a:solidFill>
                  <a:schemeClr val="dk1"/>
                </a:solidFill>
                <a:latin typeface="Calibri"/>
                <a:ea typeface="Calibri"/>
                <a:cs typeface="Calibri"/>
                <a:sym typeface="Calibri"/>
              </a:rPr>
              <a:t> Protects the lives of high-risk manual laborers in one of the world's most dangerous industries, ensuring they return home to their families.</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Economic:</a:t>
            </a:r>
            <a:r>
              <a:rPr b="0" i="0" lang="en-IN" sz="1600" u="none" cap="none" strike="noStrike">
                <a:solidFill>
                  <a:schemeClr val="dk1"/>
                </a:solidFill>
                <a:latin typeface="Calibri"/>
                <a:ea typeface="Calibri"/>
                <a:cs typeface="Calibri"/>
                <a:sym typeface="Calibri"/>
              </a:rPr>
              <a:t> Minimizes costly multi-day mine shutdowns and complex rescue operations. Drastically reduces "workday loss" metrics and lowers corporate insurance premiums by catching hazards early.</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Environmental:</a:t>
            </a:r>
            <a:r>
              <a:rPr b="0" i="0" lang="en-IN" sz="1600" u="none" cap="none" strike="noStrike">
                <a:solidFill>
                  <a:schemeClr val="dk1"/>
                </a:solidFill>
                <a:latin typeface="Calibri"/>
                <a:ea typeface="Calibri"/>
                <a:cs typeface="Calibri"/>
                <a:sym typeface="Calibri"/>
              </a:rPr>
              <a:t> Distributed environmental wall nodes detect micro-leaks of hazardous gases (Methane/CO) early, preventing catastrophic underground explosions and environmental contamination.</a:t>
            </a:r>
            <a:endParaRPr b="0" i="0" sz="1400" u="none" cap="none" strike="noStrike">
              <a:solidFill>
                <a:srgbClr val="000000"/>
              </a:solidFill>
              <a:latin typeface="Arial"/>
              <a:ea typeface="Arial"/>
              <a:cs typeface="Arial"/>
              <a:sym typeface="Arial"/>
            </a:endParaRPr>
          </a:p>
        </p:txBody>
      </p:sp>
      <p:sp>
        <p:nvSpPr>
          <p:cNvPr id="139" name="Google Shape;139;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40" name="Google Shape;140;p17"/>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41" name="Google Shape;141;p17"/>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42" name="Google Shape;142;p17"/>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49" name="Google Shape;149;p18"/>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RESEARCH  AND REFERENCES</a:t>
            </a:r>
            <a:endParaRPr/>
          </a:p>
        </p:txBody>
      </p:sp>
      <p:sp>
        <p:nvSpPr>
          <p:cNvPr id="150" name="Google Shape;150;p18"/>
          <p:cNvSpPr txBox="1"/>
          <p:nvPr/>
        </p:nvSpPr>
        <p:spPr>
          <a:xfrm>
            <a:off x="1659467" y="976574"/>
            <a:ext cx="9385200" cy="5192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1. Mining Landscape in Jharkhand:</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Jharkhand holds the largest coal reserves in the country, but faces severe environmental and safety challenges.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 Dhanbad alone, there are 147 abandoned underground coal mines slated for scientific closure by 2028.</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Uncontrolled underground fires (especially in Jharia) have burned for over a century, causing severe ground subsidence and toxic gas leaks.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2. Mine Collapses &amp; Mortality Rates: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Recent Ministry of Coal data (August 2026) reports 141 fatalities from 41 mine accidents across India over a two-year period.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Jharkhand tops the national list with 22 of those fatalities.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 the past year alone, at least seven incidents of gas leaks and land subsidence in Jharkhand's defunct mines have killed 20 people.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3. The High Cost of Rescue Operations: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Traditional rescue operations led by the National Disaster Response Force (NDRF) require immense resources, including multi-agency coordination, heavy earthmovers, dewatering systems, and specialized personnel.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Extended rescue operations incur massive financial burdens; for example, the historic Meghalaya mine rescue operation cost the state exchequer ₹3.5 Crore over several months.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By contrast, deploying our proposed system provides immediate reconnaissance at a negligible fraction of these recurring logistical costs.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4. References &amp; Sources: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Ministry of Coal Accident Report (Aug 2026):</a:t>
            </a:r>
            <a:r>
              <a:rPr lang="en-IN" sz="1100">
                <a:solidFill>
                  <a:schemeClr val="dk1"/>
                </a:solidFill>
                <a:uFill>
                  <a:noFill/>
                </a:uFill>
                <a:hlinkClick r:id="rId3">
                  <a:extLst>
                    <a:ext uri="{A12FA001-AC4F-418D-AE19-62706E023703}">
                      <ahyp:hlinkClr val="tx"/>
                    </a:ext>
                  </a:extLst>
                </a:hlinkClick>
              </a:rPr>
              <a:t> </a:t>
            </a:r>
            <a:r>
              <a:rPr lang="en-IN" sz="1100" u="sng">
                <a:solidFill>
                  <a:schemeClr val="hlink"/>
                </a:solidFill>
                <a:hlinkClick r:id="rId4"/>
              </a:rPr>
              <a:t>ETV Bharat Report</a:t>
            </a:r>
            <a:endParaRPr sz="11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Jharkhand Abandoned Coalfields Assessment (Jul 2026):</a:t>
            </a:r>
            <a:r>
              <a:rPr lang="en-IN" sz="1100">
                <a:solidFill>
                  <a:schemeClr val="dk1"/>
                </a:solidFill>
                <a:uFill>
                  <a:noFill/>
                </a:uFill>
                <a:hlinkClick r:id="rId5">
                  <a:extLst>
                    <a:ext uri="{A12FA001-AC4F-418D-AE19-62706E023703}">
                      <ahyp:hlinkClr val="tx"/>
                    </a:ext>
                  </a:extLst>
                </a:hlinkClick>
              </a:rPr>
              <a:t> </a:t>
            </a:r>
            <a:r>
              <a:rPr lang="en-IN" sz="1100" u="sng">
                <a:solidFill>
                  <a:schemeClr val="hlink"/>
                </a:solidFill>
                <a:hlinkClick r:id="rId6"/>
              </a:rPr>
              <a:t>The Reporters' Collective</a:t>
            </a:r>
            <a:endParaRPr sz="11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NDRF Rescue Logistics and Cost Documentation:</a:t>
            </a:r>
            <a:r>
              <a:rPr lang="en-IN" sz="1100">
                <a:solidFill>
                  <a:schemeClr val="dk1"/>
                </a:solidFill>
                <a:uFill>
                  <a:noFill/>
                </a:uFill>
                <a:hlinkClick r:id="rId7">
                  <a:extLst>
                    <a:ext uri="{A12FA001-AC4F-418D-AE19-62706E023703}">
                      <ahyp:hlinkClr val="tx"/>
                    </a:ext>
                  </a:extLst>
                </a:hlinkClick>
              </a:rPr>
              <a:t> </a:t>
            </a:r>
            <a:r>
              <a:rPr lang="en-IN" sz="1100" u="sng">
                <a:solidFill>
                  <a:schemeClr val="hlink"/>
                </a:solidFill>
                <a:hlinkClick r:id="rId8"/>
              </a:rPr>
              <a:t>Assam Tribune</a:t>
            </a:r>
            <a:endParaRPr sz="11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Internal NDRF Mine Rescue Training Precis:</a:t>
            </a:r>
            <a:r>
              <a:rPr lang="en-IN" sz="1100">
                <a:solidFill>
                  <a:schemeClr val="dk1"/>
                </a:solidFill>
                <a:uFill>
                  <a:noFill/>
                </a:uFill>
                <a:hlinkClick r:id="rId9">
                  <a:extLst>
                    <a:ext uri="{A12FA001-AC4F-418D-AE19-62706E023703}">
                      <ahyp:hlinkClr val="tx"/>
                    </a:ext>
                  </a:extLst>
                </a:hlinkClick>
              </a:rPr>
              <a:t> </a:t>
            </a:r>
            <a:r>
              <a:rPr lang="en-IN" sz="1100" u="sng">
                <a:solidFill>
                  <a:schemeClr val="hlink"/>
                </a:solidFill>
                <a:hlinkClick r:id="rId10"/>
              </a:rPr>
              <a:t>NDRF Gov Guidelines</a:t>
            </a:r>
            <a:endParaRPr sz="1100" u="sng">
              <a:solidFill>
                <a:schemeClr val="hlink"/>
              </a:solidFill>
            </a:endParaRPr>
          </a:p>
          <a:p>
            <a:pPr indent="0" lvl="1" marL="457200" marR="0" rtl="0" algn="l">
              <a:lnSpc>
                <a:spcPct val="150000"/>
              </a:lnSpc>
              <a:spcBef>
                <a:spcPts val="1200"/>
              </a:spcBef>
              <a:spcAft>
                <a:spcPts val="0"/>
              </a:spcAft>
              <a:buClr>
                <a:srgbClr val="000000"/>
              </a:buClr>
              <a:buSzPts val="1300"/>
              <a:buFont typeface="Arial"/>
              <a:buNone/>
            </a:pPr>
            <a:r>
              <a:t/>
            </a:r>
            <a:endParaRPr b="1" sz="1100">
              <a:solidFill>
                <a:schemeClr val="dk1"/>
              </a:solidFill>
              <a:latin typeface="Calibri"/>
              <a:ea typeface="Calibri"/>
              <a:cs typeface="Calibri"/>
              <a:sym typeface="Calibri"/>
            </a:endParaRPr>
          </a:p>
        </p:txBody>
      </p:sp>
      <p:sp>
        <p:nvSpPr>
          <p:cNvPr id="151" name="Google Shape;151;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52" name="Google Shape;152;p18"/>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53" name="Google Shape;153;p18"/>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54" name="Google Shape;154;p18"/>
          <p:cNvPicPr preferRelativeResize="0"/>
          <p:nvPr/>
        </p:nvPicPr>
        <p:blipFill rotWithShape="1">
          <a:blip r:embed="rId11">
            <a:alphaModFix/>
          </a:blip>
          <a:srcRect b="0" l="0" r="0" t="0"/>
          <a:stretch/>
        </p:blipFill>
        <p:spPr>
          <a:xfrm>
            <a:off x="9780086" y="1500"/>
            <a:ext cx="2249851" cy="10623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