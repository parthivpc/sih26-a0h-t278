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19200" y="-208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78632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696093"/>
            <a:ext cx="6947596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–SIH26240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Title-Smart Water Purification and Quality Monitoring System for Rural and Mining-Affected Areas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Theme-Smart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ID-SIH26-A0H-T278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- Nexus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rPr>
                <a:solidFill>
                  <a:srgbClr val="000000"/>
                </a:solidFill>
              </a:rPr>
              <a:t>A semi-portable, electric-powered 6-stage purifier designed for difficult water sources near mining and agricultural areas.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40080" y="1965960"/>
            <a:ext cx="3474720" cy="9601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CORE CONCEPT</a:t>
            </a:r>
          </a:p>
          <a:p>
            <a:pPr>
              <a:spcBef>
                <a:spcPts val="400"/>
              </a:spcBef>
              <a:defRPr sz="1200"/>
            </a:pPr>
            <a:r>
              <a:rPr>
                <a:solidFill>
                  <a:srgbClr val="000000"/>
                </a:solidFill>
              </a:rPr>
              <a:t>Medium-sized wheeled unit • on-site treatment • battery backup • emergency solar charging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343400" y="1965960"/>
            <a:ext cx="3474720" cy="9601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SIX-STAGE TREATMENT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1 pH correction → 2 sediment/rock &amp; grit removal → 3 pre-filtration → 4 RO → 5 carbon polishing → 6 UV/disinfection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046720" y="1965960"/>
            <a:ext cx="3474720" cy="9601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DESIGN GOAL</a:t>
            </a:r>
          </a:p>
          <a:p>
            <a:pPr>
              <a:spcBef>
                <a:spcPts val="400"/>
              </a:spcBef>
              <a:defRPr sz="1200"/>
            </a:pPr>
            <a:r>
              <a:rPr>
                <a:solidFill>
                  <a:srgbClr val="000000"/>
                </a:solidFill>
              </a:rPr>
              <a:t>Reduce dissolved salts, metals/chemicals, turbidity and microbes while producing usable treated water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40080" y="3246120"/>
            <a:ext cx="52578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HOW IT ADDRESSES THE PROBLEM</a:t>
            </a:r>
          </a:p>
          <a:p>
            <a:pPr>
              <a:spcBef>
                <a:spcPts val="400"/>
              </a:spcBef>
              <a:defRPr sz="1200"/>
            </a:pPr>
            <a:r>
              <a:rPr>
                <a:solidFill>
                  <a:srgbClr val="000000"/>
                </a:solidFill>
              </a:rPr>
              <a:t>• Built for variable raw-water quality</a:t>
            </a:r>
            <a:br/>
            <a:r>
              <a:rPr>
                <a:solidFill>
                  <a:srgbClr val="000000"/>
                </a:solidFill>
              </a:rPr>
              <a:t>• Replaceable filter modules</a:t>
            </a:r>
            <a:br/>
            <a:r>
              <a:rPr>
                <a:solidFill>
                  <a:srgbClr val="000000"/>
                </a:solidFill>
              </a:rPr>
              <a:t>• Automatic pH/TDS/turbidity monitoring</a:t>
            </a:r>
            <a:br/>
            <a:r>
              <a:rPr>
                <a:solidFill>
                  <a:srgbClr val="000000"/>
                </a:solidFill>
              </a:rPr>
              <a:t>• Reject-water outlet for controlled disposal/reuse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080760" y="3246120"/>
            <a:ext cx="544068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INNOVATION &amp; UNIQUENESS</a:t>
            </a:r>
          </a:p>
          <a:p>
            <a:pPr>
              <a:spcBef>
                <a:spcPts val="400"/>
              </a:spcBef>
              <a:defRPr sz="1200"/>
            </a:pPr>
            <a:r>
              <a:rPr>
                <a:solidFill>
                  <a:srgbClr val="000000"/>
                </a:solidFill>
              </a:rPr>
              <a:t>• Hybrid grid + battery + solar emergency operation</a:t>
            </a:r>
            <a:br/>
            <a:r>
              <a:rPr>
                <a:solidFill>
                  <a:srgbClr val="000000"/>
                </a:solidFill>
              </a:rPr>
              <a:t>• Modular six-stage architecture</a:t>
            </a:r>
            <a:br/>
            <a:r>
              <a:rPr>
                <a:solidFill>
                  <a:srgbClr val="000000"/>
                </a:solidFill>
              </a:rPr>
              <a:t>• Semi-portable chassis for farms, mine-adjacent settlements and field deployment</a:t>
            </a:r>
            <a:br/>
            <a:r>
              <a:rPr>
                <a:solidFill>
                  <a:srgbClr val="000000"/>
                </a:solidFill>
              </a:rPr>
              <a:t>• Sensor-driven protection of RO membrane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Hardware architecture and treatment flow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874519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1. pH REGULATOR</a:t>
            </a:r>
          </a:p>
          <a:p>
            <a:pPr>
              <a:spcBef>
                <a:spcPts val="400"/>
              </a:spcBef>
              <a:defRPr sz="1000"/>
            </a:pPr>
            <a:r>
              <a:rPr>
                <a:solidFill>
                  <a:srgbClr val="000000"/>
                </a:solidFill>
              </a:rPr>
              <a:t>Dosing pump + pH sensor</a:t>
            </a:r>
            <a:br/>
            <a:r>
              <a:rPr>
                <a:solidFill>
                  <a:srgbClr val="000000"/>
                </a:solidFill>
              </a:rPr>
              <a:t>Balances acidic/alkaline feed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977639" y="1874519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2. GRIT / ROCK REMOVER</a:t>
            </a:r>
          </a:p>
          <a:p>
            <a:pPr>
              <a:spcBef>
                <a:spcPts val="400"/>
              </a:spcBef>
              <a:defRPr sz="1000"/>
            </a:pPr>
            <a:r>
              <a:rPr>
                <a:solidFill>
                  <a:srgbClr val="000000"/>
                </a:solidFill>
              </a:rPr>
              <a:t>Coarse screen + settling chamber</a:t>
            </a:r>
            <a:br/>
            <a:r>
              <a:rPr>
                <a:solidFill>
                  <a:srgbClr val="000000"/>
                </a:solidFill>
              </a:rPr>
              <a:t>Captures stones, sand &amp; heavy solids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360920" y="1874519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3. PRE-FILTER</a:t>
            </a:r>
          </a:p>
          <a:p>
            <a:pPr>
              <a:spcBef>
                <a:spcPts val="400"/>
              </a:spcBef>
              <a:defRPr sz="1000"/>
            </a:pPr>
            <a:r>
              <a:rPr>
                <a:solidFill>
                  <a:srgbClr val="000000"/>
                </a:solidFill>
              </a:rPr>
              <a:t>Sediment + activated-media prefilter</a:t>
            </a:r>
            <a:br/>
            <a:r>
              <a:rPr>
                <a:solidFill>
                  <a:srgbClr val="000000"/>
                </a:solidFill>
              </a:rPr>
              <a:t>Protects RO membrane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4360" y="3383280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4. RO PURIFIER</a:t>
            </a:r>
          </a:p>
          <a:p>
            <a:pPr>
              <a:spcBef>
                <a:spcPts val="400"/>
              </a:spcBef>
              <a:defRPr sz="1000"/>
            </a:pPr>
            <a:r>
              <a:rPr>
                <a:solidFill>
                  <a:srgbClr val="000000"/>
                </a:solidFill>
              </a:rPr>
              <a:t>High-pressure pump + RO membrane</a:t>
            </a:r>
            <a:br/>
            <a:r>
              <a:rPr>
                <a:solidFill>
                  <a:srgbClr val="000000"/>
                </a:solidFill>
              </a:rPr>
              <a:t>Removes dissolved salts and many contaminants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977639" y="3383280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5. CARBON POLISHING</a:t>
            </a:r>
          </a:p>
          <a:p>
            <a:pPr>
              <a:spcBef>
                <a:spcPts val="400"/>
              </a:spcBef>
              <a:defRPr sz="1000"/>
            </a:pPr>
            <a:r>
              <a:rPr>
                <a:solidFill>
                  <a:srgbClr val="000000"/>
                </a:solidFill>
              </a:rPr>
              <a:t>Activated carbon stage</a:t>
            </a:r>
            <a:br/>
            <a:r>
              <a:rPr>
                <a:solidFill>
                  <a:srgbClr val="000000"/>
                </a:solidFill>
              </a:rPr>
              <a:t>Improves taste/odour and reduces residual organics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360920" y="3383280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6. UV / FINAL DISINFECTION</a:t>
            </a:r>
          </a:p>
          <a:p>
            <a:pPr>
              <a:spcBef>
                <a:spcPts val="400"/>
              </a:spcBef>
              <a:defRPr sz="1000"/>
            </a:pPr>
            <a:r>
              <a:rPr>
                <a:solidFill>
                  <a:srgbClr val="000000"/>
                </a:solidFill>
              </a:rPr>
              <a:t>UV-C chamber + final micron filter</a:t>
            </a:r>
            <a:br/>
            <a:r>
              <a:rPr>
                <a:solidFill>
                  <a:srgbClr val="000000"/>
                </a:solidFill>
              </a:rPr>
              <a:t>Controls microbial contamination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4360" y="4800600"/>
            <a:ext cx="562356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POWER SYSTEM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230 V AC primary → charge controller → LiFePO₄ battery → DC/AC loads; solar panel provides emergency/backup charging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446520" y="4800600"/>
            <a:ext cx="38862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CONTROL &amp; SAFETY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ESP32/PLC controller • pH/TDS/turbidity sensors • low-water cutoff • pressure switch • leak protection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Feasibility, field operation and risk controls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874519"/>
            <a:ext cx="342900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FEASIBILITY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Commercial RO membranes, pumps, UV modules, sensors and LiFePO₄ batteries are readily available. A wheeled enclosure keeps the system semi-portable.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43400" y="1874519"/>
            <a:ext cx="342900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FIELD OPERATION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Feed tank → 6-stage treatment → clean-water tank. Typical deployment can be designed around 100–250 L/h, subject to feed-water testing and membrane selection.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46720" y="1874519"/>
            <a:ext cx="342900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MAINTENANCE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Scheduled sediment-filter replacement, membrane flushing, UV inspection and calibration of pH/TDS/turbidity sensors.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3474720"/>
            <a:ext cx="521208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KEY CHALLENGES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• Highly variable mining/agricultural feed water</a:t>
            </a:r>
            <a:br/>
            <a:r>
              <a:rPr>
                <a:solidFill>
                  <a:srgbClr val="000000"/>
                </a:solidFill>
              </a:rPr>
              <a:t>• RO concentrate management</a:t>
            </a:r>
            <a:br/>
            <a:r>
              <a:rPr>
                <a:solidFill>
                  <a:srgbClr val="000000"/>
                </a:solidFill>
              </a:rPr>
              <a:t>• Membrane fouling/scaling</a:t>
            </a:r>
            <a:br/>
            <a:r>
              <a:rPr>
                <a:solidFill>
                  <a:srgbClr val="000000"/>
                </a:solidFill>
              </a:rPr>
              <a:t>• Power interruptions</a:t>
            </a:r>
            <a:br/>
            <a:r>
              <a:rPr>
                <a:solidFill>
                  <a:srgbClr val="000000"/>
                </a:solidFill>
              </a:rPr>
              <a:t>• Transport weight and water storage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80760" y="3474720"/>
            <a:ext cx="539496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MITIGATION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• Pre-screen + staged filtration</a:t>
            </a:r>
            <a:br/>
            <a:r>
              <a:rPr>
                <a:solidFill>
                  <a:srgbClr val="000000"/>
                </a:solidFill>
              </a:rPr>
              <a:t>• pH control and pressure monitoring</a:t>
            </a:r>
            <a:br/>
            <a:r>
              <a:rPr>
                <a:solidFill>
                  <a:srgbClr val="000000"/>
                </a:solidFill>
              </a:rPr>
              <a:t>• Automatic high-TDS/low-flow alarms</a:t>
            </a:r>
            <a:br/>
            <a:r>
              <a:rPr>
                <a:solidFill>
                  <a:srgbClr val="000000"/>
                </a:solidFill>
              </a:rPr>
              <a:t>• Battery ride-through + solar emergency charging</a:t>
            </a:r>
            <a:br/>
            <a:r>
              <a:rPr>
                <a:solidFill>
                  <a:srgbClr val="000000"/>
                </a:solidFill>
              </a:rPr>
              <a:t>• Lockable wheeled frame and modular service access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Expected impact and measurable benefits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874519"/>
            <a:ext cx="34290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TARGET USERS</a:t>
            </a:r>
          </a:p>
          <a:p>
            <a:pPr>
              <a:spcBef>
                <a:spcPts val="400"/>
              </a:spcBef>
              <a:defRPr sz="1200"/>
            </a:pPr>
            <a:r>
              <a:rPr>
                <a:solidFill>
                  <a:srgbClr val="000000"/>
                </a:solidFill>
              </a:rPr>
              <a:t>Mine-adjacent communities • agricultural workers • small farms • field camps • emergency water points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43400" y="1874519"/>
            <a:ext cx="34290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HEALTH &amp; SOCIAL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Provides a controlled treatment train for contaminated/variable raw water; supports safer access to treated water where centralized treatment is limited.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46720" y="1874519"/>
            <a:ext cx="34290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ECONOMIC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Semi-portable deployment reduces dependence on transporting treated water; modular components can be serviced individually.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3611880"/>
            <a:ext cx="521208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ENVIRONMENTAL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• Solar emergency charging reduces dependence on grid power</a:t>
            </a:r>
            <a:br/>
            <a:r>
              <a:rPr>
                <a:solidFill>
                  <a:srgbClr val="000000"/>
                </a:solidFill>
              </a:rPr>
              <a:t>• Efficient pre-treatment extends membrane life</a:t>
            </a:r>
            <a:br/>
            <a:r>
              <a:rPr>
                <a:solidFill>
                  <a:srgbClr val="000000"/>
                </a:solidFill>
              </a:rPr>
              <a:t>• Reject water can be separately managed based on contaminant testing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80760" y="3611880"/>
            <a:ext cx="539496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MEASUREMENT PLAN</a:t>
            </a:r>
          </a:p>
          <a:p>
            <a:pPr>
              <a:spcBef>
                <a:spcPts val="400"/>
              </a:spcBef>
              <a:defRPr sz="1100"/>
            </a:pPr>
            <a:r>
              <a:rPr>
                <a:solidFill>
                  <a:srgbClr val="000000"/>
                </a:solidFill>
              </a:rPr>
              <a:t>Track inlet/outlet pH, TDS, turbidity, conductivity and microbial indicators. Compare before/after values and record filter life, energy use and water recovery.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828800"/>
            <a:ext cx="53035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828800"/>
            <a:ext cx="53035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40080" y="3611880"/>
            <a:ext cx="1083564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85800" y="52578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Actual water-quality evidence supporting the design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94360" y="1783080"/>
            <a:ext cx="365760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MINING — IB VALLEY COALFIELD, INDIA</a:t>
            </a:r>
          </a:p>
          <a:p>
            <a:pPr>
              <a:spcBef>
                <a:spcPts val="300"/>
              </a:spcBef>
              <a:defRPr sz="1050"/>
            </a:pPr>
            <a:r>
              <a:rPr>
                <a:solidFill>
                  <a:srgbClr val="000000"/>
                </a:solidFill>
              </a:rPr>
              <a:t>A 2024 study of 102 mine-water/groundwater samples reported mine-water pH of 3.26–8.18. Mn was dominant among several metals; Fe, Mn and Al were major objectionable metals for drinking-water quality.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407408" y="1783080"/>
            <a:ext cx="34747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MINING — IRON-MINING IMPACTED AREA, JHARKHAND</a:t>
            </a:r>
          </a:p>
          <a:p>
            <a:pPr>
              <a:spcBef>
                <a:spcPts val="300"/>
              </a:spcBef>
              <a:defRPr sz="1050"/>
            </a:pPr>
            <a:r>
              <a:rPr>
                <a:solidFill>
                  <a:srgbClr val="000000"/>
                </a:solidFill>
              </a:rPr>
              <a:t>Fe and Mn exceeded drinking-water standards in about 75% of groundwater samples across seasons. Highest metal concentrations occurred near active mining locations.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46720" y="1783080"/>
            <a:ext cx="34747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AGRICULTURE — DHARAPURAM, SOUTH INDIA</a:t>
            </a:r>
          </a:p>
          <a:p>
            <a:pPr>
              <a:spcBef>
                <a:spcPts val="300"/>
              </a:spcBef>
              <a:defRPr sz="1050"/>
            </a:pPr>
            <a:r>
              <a:rPr>
                <a:solidFill>
                  <a:srgbClr val="000000"/>
                </a:solidFill>
              </a:rPr>
              <a:t>A recent groundwater study found TDS above the permissible limit in 11.76% of samples, nitrate in 32.35%, and fluoride in 23.53%. Agricultural runoff was identified as a contributing factor.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520440"/>
            <a:ext cx="52578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AGRICULTURE — THANJAVUR, TAMIL NADU</a:t>
            </a:r>
          </a:p>
          <a:p>
            <a:pPr>
              <a:spcBef>
                <a:spcPts val="300"/>
              </a:spcBef>
              <a:defRPr sz="1050"/>
            </a:pPr>
            <a:r>
              <a:rPr>
                <a:solidFill>
                  <a:srgbClr val="000000"/>
                </a:solidFill>
              </a:rPr>
              <a:t>A groundwater study of 102 samples found 13% with elevated nitrate (&gt;45 mg/L as NO₃). The study linked nitrate/chloride/sulfate patterns to surface contamination including agricultural and domestic activities.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053328" y="3520440"/>
            <a:ext cx="5468112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WHAT THIS MEANS FOR OUR HARDWARE</a:t>
            </a:r>
          </a:p>
          <a:p>
            <a:pPr>
              <a:spcBef>
                <a:spcPts val="300"/>
              </a:spcBef>
              <a:defRPr sz="1050"/>
            </a:pPr>
            <a:r>
              <a:rPr>
                <a:solidFill>
                  <a:srgbClr val="000000"/>
                </a:solidFill>
              </a:rPr>
              <a:t>The unit cannot assume one fixed 'dirty-water' profile. Sensor monitoring + staged solids removal + pH control + RO + carbon + UV gives a configurable treatment train for variable field water.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94360" y="4956048"/>
            <a:ext cx="10927080" cy="713232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VALIDATION BEFORE DEPLOYMENT</a:t>
            </a:r>
          </a:p>
          <a:p>
            <a:pPr>
              <a:spcBef>
                <a:spcPts val="300"/>
              </a:spcBef>
              <a:defRPr sz="1050"/>
            </a:pPr>
            <a:r>
              <a:rPr>
                <a:solidFill>
                  <a:srgbClr val="000000"/>
                </a:solidFill>
              </a:rPr>
              <a:t>For each selected site, test inlet/outlet pH, EC/TDS, turbidity, nitrate, hardness, Fe/Mn and microbial indicators; add fluoride/arsenic/pesticide tests where local risk warrants. Final removal claims will be based on pilot-test results.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58368" y="577900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/>
            </a:pPr>
            <a:r>
              <a:rPr>
                <a:solidFill>
                  <a:srgbClr val="000000"/>
                </a:solidFill>
              </a:rPr>
              <a:t>Sources: Pandey et al., Heavy metal geochemistry… Ib Valley coalfield (2024); iron-mining impacted groundwater study, Jharkhand (2023); Dharapuram groundwater nitrate/fluoride study (2025); Thanjavur groundwater study. Standards: BIS IS 10500 / WHO drinking-water guidance.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7507</TotalTime>
  <Words>968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Parthivpc2@outlook.com</cp:lastModifiedBy>
  <cp:revision>149</cp:revision>
  <dcterms:created xsi:type="dcterms:W3CDTF">2013-12-12T18:46:50Z</dcterms:created>
  <dcterms:modified xsi:type="dcterms:W3CDTF">2026-09-15T03:57:49Z</dcterms:modified>
  <cp:category/>
</cp:coreProperties>
</file>