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Garamond"/>
      <p:regular r:id="rId12"/>
      <p:bold r:id="rId13"/>
      <p:italic r:id="rId14"/>
      <p:boldItalic r:id="rId15"/>
    </p:embeddedFont>
    <p:embeddedFont>
      <p:font typeface="Oswal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Garamond-bold.fntdata"/><Relationship Id="rId12" Type="http://schemas.openxmlformats.org/officeDocument/2006/relationships/font" Target="fonts/Garamon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aramond-boldItalic.fntdata"/><Relationship Id="rId14" Type="http://schemas.openxmlformats.org/officeDocument/2006/relationships/font" Target="fonts/Garamond-italic.fntdata"/><Relationship Id="rId17" Type="http://schemas.openxmlformats.org/officeDocument/2006/relationships/font" Target="fonts/Oswald-bold.fntdata"/><Relationship Id="rId16"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7" name="Google Shape;9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21" name="Google Shape;12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33" name="Google Shape;13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45" name="Google Shape;14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914400" y="2130428"/>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963084" y="4406903"/>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txBox="1"/>
          <p:nvPr>
            <p:ph idx="1" type="body"/>
          </p:nvPr>
        </p:nvSpPr>
        <p:spPr>
          <a:xfrm>
            <a:off x="609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6197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6193369"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6193369"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609602"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9"/>
          <p:cNvSpPr txBox="1"/>
          <p:nvPr>
            <p:ph idx="1" type="body"/>
          </p:nvPr>
        </p:nvSpPr>
        <p:spPr>
          <a:xfrm>
            <a:off x="4766733" y="273053"/>
            <a:ext cx="6815667"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609602" y="1435103"/>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p:nvPr>
            <p:ph idx="2" type="pic"/>
          </p:nvPr>
        </p:nvSpPr>
        <p:spPr>
          <a:xfrm>
            <a:off x="2389717" y="612775"/>
            <a:ext cx="7315200" cy="4114800"/>
          </a:xfrm>
          <a:prstGeom prst="rect">
            <a:avLst/>
          </a:prstGeom>
          <a:noFill/>
          <a:ln>
            <a:noFill/>
          </a:ln>
        </p:spPr>
      </p:sp>
      <p:sp>
        <p:nvSpPr>
          <p:cNvPr id="68" name="Google Shape;68;p10"/>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rot="5400000">
            <a:off x="3580606" y="-1875631"/>
            <a:ext cx="5030788" cy="10972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285038" y="1828804"/>
            <a:ext cx="5851525"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rot="5400000">
            <a:off x="1697038" y="-812796"/>
            <a:ext cx="5851525" cy="8026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Oswald"/>
                <a:ea typeface="Oswald"/>
                <a:cs typeface="Oswald"/>
                <a:sym typeface="Oswald"/>
              </a:defRPr>
            </a:lvl1pPr>
            <a:lvl2pPr indent="0" lvl="1" marL="0" algn="r">
              <a:spcBef>
                <a:spcPts val="0"/>
              </a:spcBef>
              <a:spcAft>
                <a:spcPts val="0"/>
              </a:spcAft>
              <a:buNone/>
              <a:defRPr sz="1200">
                <a:solidFill>
                  <a:srgbClr val="898989"/>
                </a:solidFill>
                <a:latin typeface="Oswald"/>
                <a:ea typeface="Oswald"/>
                <a:cs typeface="Oswald"/>
                <a:sym typeface="Oswald"/>
              </a:defRPr>
            </a:lvl2pPr>
            <a:lvl3pPr indent="0" lvl="2" marL="0" algn="r">
              <a:spcBef>
                <a:spcPts val="0"/>
              </a:spcBef>
              <a:spcAft>
                <a:spcPts val="0"/>
              </a:spcAft>
              <a:buNone/>
              <a:defRPr sz="1200">
                <a:solidFill>
                  <a:srgbClr val="898989"/>
                </a:solidFill>
                <a:latin typeface="Oswald"/>
                <a:ea typeface="Oswald"/>
                <a:cs typeface="Oswald"/>
                <a:sym typeface="Oswald"/>
              </a:defRPr>
            </a:lvl3pPr>
            <a:lvl4pPr indent="0" lvl="3" marL="0" algn="r">
              <a:spcBef>
                <a:spcPts val="0"/>
              </a:spcBef>
              <a:spcAft>
                <a:spcPts val="0"/>
              </a:spcAft>
              <a:buNone/>
              <a:defRPr sz="1200">
                <a:solidFill>
                  <a:srgbClr val="898989"/>
                </a:solidFill>
                <a:latin typeface="Oswald"/>
                <a:ea typeface="Oswald"/>
                <a:cs typeface="Oswald"/>
                <a:sym typeface="Oswald"/>
              </a:defRPr>
            </a:lvl4pPr>
            <a:lvl5pPr indent="0" lvl="4" marL="0" algn="r">
              <a:spcBef>
                <a:spcPts val="0"/>
              </a:spcBef>
              <a:spcAft>
                <a:spcPts val="0"/>
              </a:spcAft>
              <a:buNone/>
              <a:defRPr sz="1200">
                <a:solidFill>
                  <a:srgbClr val="898989"/>
                </a:solidFill>
                <a:latin typeface="Oswald"/>
                <a:ea typeface="Oswald"/>
                <a:cs typeface="Oswald"/>
                <a:sym typeface="Oswald"/>
              </a:defRPr>
            </a:lvl5pPr>
            <a:lvl6pPr indent="0" lvl="5" marL="0" algn="r">
              <a:spcBef>
                <a:spcPts val="0"/>
              </a:spcBef>
              <a:spcAft>
                <a:spcPts val="0"/>
              </a:spcAft>
              <a:buNone/>
              <a:defRPr sz="1200">
                <a:solidFill>
                  <a:srgbClr val="898989"/>
                </a:solidFill>
                <a:latin typeface="Oswald"/>
                <a:ea typeface="Oswald"/>
                <a:cs typeface="Oswald"/>
                <a:sym typeface="Oswald"/>
              </a:defRPr>
            </a:lvl6pPr>
            <a:lvl7pPr indent="0" lvl="6" marL="0" algn="r">
              <a:spcBef>
                <a:spcPts val="0"/>
              </a:spcBef>
              <a:spcAft>
                <a:spcPts val="0"/>
              </a:spcAft>
              <a:buNone/>
              <a:defRPr sz="1200">
                <a:solidFill>
                  <a:srgbClr val="898989"/>
                </a:solidFill>
                <a:latin typeface="Oswald"/>
                <a:ea typeface="Oswald"/>
                <a:cs typeface="Oswald"/>
                <a:sym typeface="Oswald"/>
              </a:defRPr>
            </a:lvl7pPr>
            <a:lvl8pPr indent="0" lvl="7" marL="0" algn="r">
              <a:spcBef>
                <a:spcPts val="0"/>
              </a:spcBef>
              <a:spcAft>
                <a:spcPts val="0"/>
              </a:spcAft>
              <a:buNone/>
              <a:defRPr sz="1200">
                <a:solidFill>
                  <a:srgbClr val="898989"/>
                </a:solidFill>
                <a:latin typeface="Oswald"/>
                <a:ea typeface="Oswald"/>
                <a:cs typeface="Oswald"/>
                <a:sym typeface="Oswald"/>
              </a:defRPr>
            </a:lvl8pPr>
            <a:lvl9pPr indent="0" lvl="8" marL="0" algn="r">
              <a:spcBef>
                <a:spcPts val="0"/>
              </a:spcBef>
              <a:spcAft>
                <a:spcPts val="0"/>
              </a:spcAft>
              <a:buNone/>
              <a:defRPr sz="12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1pPr>
            <a:lvl2pPr lvl="1"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2pPr>
            <a:lvl3pPr lvl="2"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3pPr>
            <a:lvl4pPr lvl="3"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4pPr>
            <a:lvl5pPr lvl="4"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5pPr>
            <a:lvl6pPr lvl="5"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6pPr>
            <a:lvl7pPr lvl="6"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7pPr>
            <a:lvl8pPr lvl="7"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8pPr>
            <a:lvl9pPr lvl="8"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9pPr>
          </a:lstStyle>
          <a:p/>
        </p:txBody>
      </p:sp>
      <p:sp>
        <p:nvSpPr>
          <p:cNvPr id="11" name="Google Shape;11;p1"/>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Oswald"/>
                <a:ea typeface="Oswald"/>
                <a:cs typeface="Oswald"/>
                <a:sym typeface="Oswal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Oswald"/>
                <a:ea typeface="Oswald"/>
                <a:cs typeface="Oswald"/>
                <a:sym typeface="Oswal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98989"/>
                </a:solidFill>
                <a:latin typeface="Oswald"/>
                <a:ea typeface="Oswald"/>
                <a:cs typeface="Oswald"/>
                <a:sym typeface="Oswald"/>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Oswald"/>
                <a:ea typeface="Oswald"/>
                <a:cs typeface="Oswald"/>
                <a:sym typeface="Oswald"/>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marR="0" rt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marR="0" rt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marR="0" rt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marR="0" rt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marR="0" rt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marR="0" rt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marR="0" rt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marR="0" rt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3"/>
          <p:cNvSpPr/>
          <p:nvPr/>
        </p:nvSpPr>
        <p:spPr>
          <a:xfrm>
            <a:off x="152400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3"/>
          <p:cNvSpPr/>
          <p:nvPr/>
        </p:nvSpPr>
        <p:spPr>
          <a:xfrm>
            <a:off x="5656780" y="851521"/>
            <a:ext cx="4638605" cy="5154967"/>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b="0" l="0" r="59916" t="0"/>
          <a:stretch/>
        </p:blipFill>
        <p:spPr>
          <a:xfrm>
            <a:off x="6854891" y="1715881"/>
            <a:ext cx="3203509" cy="3426237"/>
          </a:xfrm>
          <a:prstGeom prst="rect">
            <a:avLst/>
          </a:prstGeom>
          <a:noFill/>
          <a:ln>
            <a:noFill/>
          </a:ln>
        </p:spPr>
      </p:pic>
      <p:sp>
        <p:nvSpPr>
          <p:cNvPr id="91" name="Google Shape;91;p13"/>
          <p:cNvSpPr txBox="1"/>
          <p:nvPr>
            <p:ph idx="1" type="subTitle"/>
          </p:nvPr>
        </p:nvSpPr>
        <p:spPr>
          <a:xfrm>
            <a:off x="1245686" y="648614"/>
            <a:ext cx="85344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640"/>
              </a:spcBef>
              <a:spcAft>
                <a:spcPts val="0"/>
              </a:spcAft>
              <a:buClr>
                <a:schemeClr val="dk1"/>
              </a:buClr>
              <a:buSzPts val="3200"/>
              <a:buNone/>
            </a:pPr>
            <a:r>
              <a:rPr b="1" lang="en-IN">
                <a:solidFill>
                  <a:schemeClr val="dk1"/>
                </a:solidFill>
                <a:latin typeface="Times New Roman"/>
                <a:ea typeface="Times New Roman"/>
                <a:cs typeface="Times New Roman"/>
                <a:sym typeface="Times New Roman"/>
              </a:rPr>
              <a:t>TITLE PAGE</a:t>
            </a:r>
            <a:endParaRPr b="1">
              <a:solidFill>
                <a:schemeClr val="dk1"/>
              </a:solidFill>
              <a:latin typeface="Times New Roman"/>
              <a:ea typeface="Times New Roman"/>
              <a:cs typeface="Times New Roman"/>
              <a:sym typeface="Times New Roman"/>
            </a:endParaRPr>
          </a:p>
        </p:txBody>
      </p:sp>
      <p:sp>
        <p:nvSpPr>
          <p:cNvPr id="92" name="Google Shape;92;p13"/>
          <p:cNvSpPr txBox="1"/>
          <p:nvPr>
            <p:ph type="ctrTitle"/>
          </p:nvPr>
        </p:nvSpPr>
        <p:spPr>
          <a:xfrm>
            <a:off x="331286" y="-526757"/>
            <a:ext cx="10363200" cy="20764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IN" sz="4000">
                <a:solidFill>
                  <a:schemeClr val="dk2"/>
                </a:solidFill>
                <a:latin typeface="Garamond"/>
                <a:ea typeface="Garamond"/>
                <a:cs typeface="Garamond"/>
                <a:sym typeface="Garamond"/>
              </a:rPr>
              <a:t>SMART INDIA HACKATHON 2026</a:t>
            </a:r>
            <a:endParaRPr b="1" sz="4000">
              <a:solidFill>
                <a:schemeClr val="dk2"/>
              </a:solidFill>
              <a:latin typeface="Garamond"/>
              <a:ea typeface="Garamond"/>
              <a:cs typeface="Garamond"/>
              <a:sym typeface="Garamond"/>
            </a:endParaRPr>
          </a:p>
        </p:txBody>
      </p:sp>
      <p:sp>
        <p:nvSpPr>
          <p:cNvPr id="93" name="Google Shape;93;p13"/>
          <p:cNvSpPr txBox="1"/>
          <p:nvPr/>
        </p:nvSpPr>
        <p:spPr>
          <a:xfrm>
            <a:off x="331285" y="2076450"/>
            <a:ext cx="6619847" cy="43173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dk1"/>
              </a:buClr>
              <a:buSzPts val="2400"/>
              <a:buFont typeface="Arial"/>
              <a:buChar char="•"/>
            </a:pPr>
            <a:r>
              <a:rPr b="1" lang="en-IN" sz="2400">
                <a:solidFill>
                  <a:schemeClr val="dk1"/>
                </a:solidFill>
                <a:latin typeface="Arial"/>
                <a:ea typeface="Arial"/>
                <a:cs typeface="Arial"/>
                <a:sym typeface="Arial"/>
              </a:rPr>
              <a:t>Problem Statement ID – SIH26039</a:t>
            </a:r>
            <a:endParaRPr b="1" sz="2400">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400"/>
              <a:buFont typeface="Arial"/>
              <a:buChar char="•"/>
            </a:pPr>
            <a:r>
              <a:rPr b="1" lang="en-IN" sz="2400">
                <a:solidFill>
                  <a:schemeClr val="dk1"/>
                </a:solidFill>
                <a:latin typeface="Arial"/>
                <a:ea typeface="Arial"/>
                <a:cs typeface="Arial"/>
                <a:sym typeface="Arial"/>
              </a:rPr>
              <a:t>Problem Statement Title- Al-Powered Underground Mine Safety, Monitoring and Rescue System.</a:t>
            </a:r>
            <a:endParaRPr b="1" sz="2400">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400"/>
              <a:buFont typeface="Arial"/>
              <a:buChar char="•"/>
            </a:pPr>
            <a:r>
              <a:rPr b="1" lang="en-IN" sz="2400">
                <a:solidFill>
                  <a:schemeClr val="dk1"/>
                </a:solidFill>
                <a:latin typeface="Arial"/>
                <a:ea typeface="Arial"/>
                <a:cs typeface="Arial"/>
                <a:sym typeface="Arial"/>
              </a:rPr>
              <a:t>Theme- Smart Automation</a:t>
            </a:r>
            <a:endParaRPr b="1" sz="2400">
              <a:solidFill>
                <a:schemeClr val="dk1"/>
              </a:solidFill>
              <a:latin typeface="Arial"/>
              <a:ea typeface="Arial"/>
              <a:cs typeface="Arial"/>
              <a:sym typeface="Arial"/>
            </a:endParaRPr>
          </a:p>
          <a:p>
            <a:pPr indent="-285750" lvl="0" marL="285750" marR="0" rtl="0" algn="just">
              <a:lnSpc>
                <a:spcPct val="200000"/>
              </a:lnSpc>
              <a:spcBef>
                <a:spcPts val="0"/>
              </a:spcBef>
              <a:spcAft>
                <a:spcPts val="0"/>
              </a:spcAft>
              <a:buClr>
                <a:schemeClr val="dk1"/>
              </a:buClr>
              <a:buSzPts val="2400"/>
              <a:buFont typeface="Arial"/>
              <a:buChar char="•"/>
            </a:pPr>
            <a:r>
              <a:rPr b="1" lang="en-IN" sz="2400">
                <a:solidFill>
                  <a:schemeClr val="dk1"/>
                </a:solidFill>
                <a:latin typeface="Arial"/>
                <a:ea typeface="Arial"/>
                <a:cs typeface="Arial"/>
                <a:sym typeface="Arial"/>
              </a:rPr>
              <a:t>PS Category- Hardware</a:t>
            </a:r>
            <a:endParaRPr/>
          </a:p>
          <a:p>
            <a:pPr indent="-285750" lvl="0" marL="285750" marR="0" rtl="0" algn="just">
              <a:lnSpc>
                <a:spcPct val="200000"/>
              </a:lnSpc>
              <a:spcBef>
                <a:spcPts val="0"/>
              </a:spcBef>
              <a:spcAft>
                <a:spcPts val="0"/>
              </a:spcAft>
              <a:buClr>
                <a:schemeClr val="dk1"/>
              </a:buClr>
              <a:buSzPts val="2400"/>
              <a:buFont typeface="Arial"/>
              <a:buChar char="•"/>
            </a:pPr>
            <a:r>
              <a:rPr b="1" lang="en-IN" sz="2400">
                <a:solidFill>
                  <a:schemeClr val="dk1"/>
                </a:solidFill>
                <a:latin typeface="Arial"/>
                <a:ea typeface="Arial"/>
                <a:cs typeface="Arial"/>
                <a:sym typeface="Arial"/>
              </a:rPr>
              <a:t>Team ID- SIH26-A0H-T278</a:t>
            </a:r>
            <a:endParaRPr/>
          </a:p>
          <a:p>
            <a:pPr indent="-285750" lvl="0" marL="285750" marR="0" rtl="0" algn="just">
              <a:lnSpc>
                <a:spcPct val="200000"/>
              </a:lnSpc>
              <a:spcBef>
                <a:spcPts val="0"/>
              </a:spcBef>
              <a:spcAft>
                <a:spcPts val="0"/>
              </a:spcAft>
              <a:buClr>
                <a:schemeClr val="dk1"/>
              </a:buClr>
              <a:buSzPts val="2400"/>
              <a:buFont typeface="Arial"/>
              <a:buChar char="•"/>
            </a:pPr>
            <a:r>
              <a:rPr b="1" lang="en-IN" sz="2400">
                <a:solidFill>
                  <a:schemeClr val="dk1"/>
                </a:solidFill>
                <a:latin typeface="Arial"/>
                <a:ea typeface="Arial"/>
                <a:cs typeface="Arial"/>
                <a:sym typeface="Arial"/>
              </a:rPr>
              <a:t>Team Name - Nexus</a:t>
            </a:r>
            <a:endParaRPr b="1" sz="2400">
              <a:solidFill>
                <a:schemeClr val="dk1"/>
              </a:solidFill>
              <a:latin typeface="Arial"/>
              <a:ea typeface="Arial"/>
              <a:cs typeface="Arial"/>
              <a:sym typeface="Arial"/>
            </a:endParaRPr>
          </a:p>
        </p:txBody>
      </p:sp>
      <p:pic>
        <p:nvPicPr>
          <p:cNvPr id="94" name="Google Shape;94;p13"/>
          <p:cNvPicPr preferRelativeResize="0"/>
          <p:nvPr/>
        </p:nvPicPr>
        <p:blipFill rotWithShape="1">
          <a:blip r:embed="rId4">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53734"/>
              </a:solidFill>
              <a:latin typeface="Calibri"/>
              <a:ea typeface="Calibri"/>
              <a:cs typeface="Calibri"/>
              <a:sym typeface="Calibri"/>
            </a:endParaRPr>
          </a:p>
        </p:txBody>
      </p:sp>
      <p:sp>
        <p:nvSpPr>
          <p:cNvPr id="101" name="Google Shape;101;p14"/>
          <p:cNvSpPr txBox="1"/>
          <p:nvPr>
            <p:ph type="title"/>
          </p:nvPr>
        </p:nvSpPr>
        <p:spPr>
          <a:xfrm>
            <a:off x="182998" y="0"/>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IN" sz="2000"/>
              <a:t>AI-Powered Decentralized Mine Safety &amp; Active Rescue Architecture</a:t>
            </a:r>
            <a:endParaRPr b="1" sz="2000">
              <a:latin typeface="Times New Roman"/>
              <a:ea typeface="Times New Roman"/>
              <a:cs typeface="Times New Roman"/>
              <a:sym typeface="Times New Roman"/>
            </a:endParaRPr>
          </a:p>
        </p:txBody>
      </p:sp>
      <p:sp>
        <p:nvSpPr>
          <p:cNvPr id="102" name="Google Shape;102;p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IN">
                <a:solidFill>
                  <a:schemeClr val="lt1"/>
                </a:solidFill>
              </a:rPr>
              <a:t>‹#›</a:t>
            </a:fld>
            <a:endParaRPr b="1">
              <a:solidFill>
                <a:schemeClr val="lt1"/>
              </a:solidFill>
            </a:endParaRPr>
          </a:p>
        </p:txBody>
      </p:sp>
      <p:sp>
        <p:nvSpPr>
          <p:cNvPr id="103" name="Google Shape;103;p14"/>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@SIH Idea submission- Template</a:t>
            </a:r>
            <a:endParaRPr/>
          </a:p>
        </p:txBody>
      </p:sp>
      <p:sp>
        <p:nvSpPr>
          <p:cNvPr descr="Your startup LOGO" id="104" name="Google Shape;104;p14"/>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800">
                <a:solidFill>
                  <a:schemeClr val="dk1"/>
                </a:solidFill>
                <a:latin typeface="Arial"/>
                <a:ea typeface="Arial"/>
                <a:cs typeface="Arial"/>
                <a:sym typeface="Arial"/>
              </a:rPr>
              <a:t>Nexus</a:t>
            </a:r>
            <a:endParaRPr sz="1800">
              <a:solidFill>
                <a:schemeClr val="dk1"/>
              </a:solidFill>
              <a:latin typeface="Calibri"/>
              <a:ea typeface="Calibri"/>
              <a:cs typeface="Calibri"/>
              <a:sym typeface="Calibri"/>
            </a:endParaRPr>
          </a:p>
        </p:txBody>
      </p:sp>
      <p:sp>
        <p:nvSpPr>
          <p:cNvPr id="105" name="Google Shape;105;p14"/>
          <p:cNvSpPr txBox="1"/>
          <p:nvPr/>
        </p:nvSpPr>
        <p:spPr>
          <a:xfrm>
            <a:off x="474134" y="1253067"/>
            <a:ext cx="10972799"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Detailed explanation of the proposed solution:</a:t>
            </a:r>
            <a:r>
              <a:rPr lang="en-IN" sz="1800">
                <a:solidFill>
                  <a:schemeClr val="dk1"/>
                </a:solidFill>
                <a:latin typeface="Calibri"/>
                <a:ea typeface="Calibri"/>
                <a:cs typeface="Calibri"/>
                <a:sym typeface="Calibri"/>
              </a:rPr>
              <a:t> We provide a complete safety net for underground workers. Miners wear a rugged, screen-free wristband that tracks their vitals and detects falls. This connects to "Smart Beacons" on the tunnel walls that constantly sniff the air for toxic gases, sending a real-time safety feed to the surface.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IN" sz="1800">
                <a:solidFill>
                  <a:schemeClr val="dk1"/>
                </a:solidFill>
                <a:latin typeface="Calibri"/>
                <a:ea typeface="Calibri"/>
                <a:cs typeface="Calibri"/>
                <a:sym typeface="Calibri"/>
              </a:rPr>
              <a:t>How it addresses the problem:</a:t>
            </a:r>
            <a:r>
              <a:rPr lang="en-IN" sz="1800">
                <a:solidFill>
                  <a:schemeClr val="dk1"/>
                </a:solidFill>
                <a:latin typeface="Calibri"/>
                <a:ea typeface="Calibri"/>
                <a:cs typeface="Calibri"/>
                <a:sym typeface="Calibri"/>
              </a:rPr>
              <a:t> We engineered this for the harsh reality of a mine. Since GPS doesn't work underground, our wall beacons track the miners instead. To stop mud from clogging gas sensors, we moved them off the wrist and onto the walls. Most importantly, if a cave-in cuts the power, the wristband drops into "survival mode," broadcasting a trapped miner's location to rescuers for up to a week.</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IN" sz="1800">
                <a:solidFill>
                  <a:schemeClr val="dk1"/>
                </a:solidFill>
                <a:latin typeface="Calibri"/>
                <a:ea typeface="Calibri"/>
                <a:cs typeface="Calibri"/>
                <a:sym typeface="Calibri"/>
              </a:rPr>
              <a:t>Innovation and uniqueness of the solution:</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Active AI Rescue (A Digital Lifeline):</a:t>
            </a:r>
            <a:r>
              <a:rPr lang="en-IN" sz="1800">
                <a:solidFill>
                  <a:schemeClr val="dk1"/>
                </a:solidFill>
                <a:latin typeface="Calibri"/>
                <a:ea typeface="Calibri"/>
                <a:cs typeface="Calibri"/>
                <a:sym typeface="Calibri"/>
              </a:rPr>
              <a:t> This isn't just a dashboard that watches people get hurt. During a disaster, a panicking miner can't read a screen in a smoke-filled tunnel. Instead, our AI instantly finds the safest exit and triggers a glowing LED arrow and strong vibrations on their wrist—guiding them to safety by pure instinct.</a:t>
            </a:r>
            <a:endParaRPr/>
          </a:p>
        </p:txBody>
      </p:sp>
      <p:pic>
        <p:nvPicPr>
          <p:cNvPr id="106" name="Google Shape;106;p14"/>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53734"/>
              </a:solidFill>
              <a:latin typeface="Calibri"/>
              <a:ea typeface="Calibri"/>
              <a:cs typeface="Calibri"/>
              <a:sym typeface="Calibri"/>
            </a:endParaRPr>
          </a:p>
        </p:txBody>
      </p:sp>
      <p:sp>
        <p:nvSpPr>
          <p:cNvPr id="113" name="Google Shape;113;p1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IN" sz="3600">
                <a:latin typeface="Times New Roman"/>
                <a:ea typeface="Times New Roman"/>
                <a:cs typeface="Times New Roman"/>
                <a:sym typeface="Times New Roman"/>
              </a:rPr>
              <a:t>TECHNICAL APPROACH</a:t>
            </a:r>
            <a:endParaRPr/>
          </a:p>
        </p:txBody>
      </p:sp>
      <p:sp>
        <p:nvSpPr>
          <p:cNvPr id="114" name="Google Shape;114;p15"/>
          <p:cNvSpPr txBox="1"/>
          <p:nvPr/>
        </p:nvSpPr>
        <p:spPr>
          <a:xfrm>
            <a:off x="220134" y="1011401"/>
            <a:ext cx="11642093" cy="449014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IN" sz="1200">
                <a:solidFill>
                  <a:schemeClr val="dk1"/>
                </a:solidFill>
                <a:latin typeface="Arial"/>
                <a:ea typeface="Arial"/>
                <a:cs typeface="Arial"/>
                <a:sym typeface="Arial"/>
              </a:rPr>
              <a:t>Technologies to be used (Hardware, Software &amp; Frameworks):</a:t>
            </a:r>
            <a:endParaRPr sz="1200">
              <a:solidFill>
                <a:schemeClr val="dk1"/>
              </a:solidFill>
              <a:latin typeface="Arial"/>
              <a:ea typeface="Arial"/>
              <a:cs typeface="Arial"/>
              <a:sym typeface="Arial"/>
            </a:endParaRPr>
          </a:p>
          <a:p>
            <a:pPr indent="0" lvl="1" marL="457200" marR="0" rtl="0" algn="l">
              <a:lnSpc>
                <a:spcPct val="150000"/>
              </a:lnSpc>
              <a:spcBef>
                <a:spcPts val="0"/>
              </a:spcBef>
              <a:spcAft>
                <a:spcPts val="0"/>
              </a:spcAft>
              <a:buNone/>
            </a:pPr>
            <a:r>
              <a:rPr b="1" i="0" lang="en-IN" sz="1200" u="none" cap="none" strike="noStrike">
                <a:solidFill>
                  <a:schemeClr val="dk1"/>
                </a:solidFill>
                <a:latin typeface="Arial"/>
                <a:ea typeface="Arial"/>
                <a:cs typeface="Arial"/>
                <a:sym typeface="Arial"/>
              </a:rPr>
              <a:t>The Hardware (Edge &amp; Nodes):</a:t>
            </a:r>
            <a:r>
              <a:rPr b="0" i="0" lang="en-IN" sz="1200" u="none" cap="none" strike="noStrike">
                <a:solidFill>
                  <a:schemeClr val="dk1"/>
                </a:solidFill>
                <a:latin typeface="Arial"/>
                <a:ea typeface="Arial"/>
                <a:cs typeface="Arial"/>
                <a:sym typeface="Arial"/>
              </a:rPr>
              <a:t> ESP32-C3 microcontrollers for the wearable, and Heltec LoRa V3 (ESP32 + SX1262 LoRa) for the wall beacons.</a:t>
            </a:r>
            <a:endParaRPr/>
          </a:p>
          <a:p>
            <a:pPr indent="0" lvl="1" marL="457200" marR="0" rtl="0" algn="l">
              <a:lnSpc>
                <a:spcPct val="150000"/>
              </a:lnSpc>
              <a:spcBef>
                <a:spcPts val="0"/>
              </a:spcBef>
              <a:spcAft>
                <a:spcPts val="0"/>
              </a:spcAft>
              <a:buNone/>
            </a:pPr>
            <a:r>
              <a:rPr b="1" i="0" lang="en-IN" sz="1200" u="none" cap="none" strike="noStrike">
                <a:solidFill>
                  <a:schemeClr val="dk1"/>
                </a:solidFill>
                <a:latin typeface="Arial"/>
                <a:ea typeface="Arial"/>
                <a:cs typeface="Arial"/>
                <a:sym typeface="Arial"/>
              </a:rPr>
              <a:t>The Sensor Stack:</a:t>
            </a:r>
            <a:r>
              <a:rPr b="0" i="0" lang="en-IN" sz="1200" u="none" cap="none" strike="noStrike">
                <a:solidFill>
                  <a:schemeClr val="dk1"/>
                </a:solidFill>
                <a:latin typeface="Arial"/>
                <a:ea typeface="Arial"/>
                <a:cs typeface="Arial"/>
                <a:sym typeface="Arial"/>
              </a:rPr>
              <a:t> MAX30102 (HR/SpO2), MPU6050 (IMU fall detection), MQ-4/MQ-7 (Gas simulations), and WS2812B NeoPixel LEDs for screenless navigation.</a:t>
            </a:r>
            <a:endParaRPr/>
          </a:p>
          <a:p>
            <a:pPr indent="0" lvl="1" marL="457200" marR="0" rtl="0" algn="l">
              <a:lnSpc>
                <a:spcPct val="150000"/>
              </a:lnSpc>
              <a:spcBef>
                <a:spcPts val="0"/>
              </a:spcBef>
              <a:spcAft>
                <a:spcPts val="0"/>
              </a:spcAft>
              <a:buNone/>
            </a:pPr>
            <a:r>
              <a:rPr b="1" i="0" lang="en-IN" sz="1200" u="none" cap="none" strike="noStrike">
                <a:solidFill>
                  <a:schemeClr val="dk1"/>
                </a:solidFill>
                <a:latin typeface="Arial"/>
                <a:ea typeface="Arial"/>
                <a:cs typeface="Arial"/>
                <a:sym typeface="Arial"/>
              </a:rPr>
              <a:t>The Network Protocols:</a:t>
            </a:r>
            <a:r>
              <a:rPr b="0" i="0" lang="en-IN" sz="1200" u="none" cap="none" strike="noStrike">
                <a:solidFill>
                  <a:schemeClr val="dk1"/>
                </a:solidFill>
                <a:latin typeface="Arial"/>
                <a:ea typeface="Arial"/>
                <a:cs typeface="Arial"/>
                <a:sym typeface="Arial"/>
              </a:rPr>
              <a:t> Bluetooth Low Energy (BLE) for short-range proximity tracking, and LoRaWAN (868MHz) for the long-range, self-healing mesh backbone.</a:t>
            </a:r>
            <a:endParaRPr/>
          </a:p>
          <a:p>
            <a:pPr indent="0" lvl="1" marL="457200" marR="0" rtl="0" algn="l">
              <a:lnSpc>
                <a:spcPct val="150000"/>
              </a:lnSpc>
              <a:spcBef>
                <a:spcPts val="0"/>
              </a:spcBef>
              <a:spcAft>
                <a:spcPts val="0"/>
              </a:spcAft>
              <a:buNone/>
            </a:pPr>
            <a:r>
              <a:rPr b="1" i="0" lang="en-IN" sz="1200" u="none" cap="none" strike="noStrike">
                <a:solidFill>
                  <a:schemeClr val="dk1"/>
                </a:solidFill>
                <a:latin typeface="Arial"/>
                <a:ea typeface="Arial"/>
                <a:cs typeface="Arial"/>
                <a:sym typeface="Arial"/>
              </a:rPr>
              <a:t>The Software &amp; AI Brain:</a:t>
            </a:r>
            <a:r>
              <a:rPr b="0" i="0" lang="en-IN" sz="1200" u="none" cap="none" strike="noStrike">
                <a:solidFill>
                  <a:schemeClr val="dk1"/>
                </a:solidFill>
                <a:latin typeface="Arial"/>
                <a:ea typeface="Arial"/>
                <a:cs typeface="Arial"/>
                <a:sym typeface="Arial"/>
              </a:rPr>
              <a:t> C++ (Vs Code IDE) for embedded device firmware. Python (Flask/Streamlit) for the local surface dashboard. Scikit-learn for the lightweight worker-fatigue ML model, and Dijkstra/A* algorithms for dynamic evacuation pathfinding.</a:t>
            </a:r>
            <a:endParaRPr/>
          </a:p>
          <a:p>
            <a:pPr indent="0" lvl="1" marL="457200" marR="0" rtl="0" algn="l">
              <a:lnSpc>
                <a:spcPct val="15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b="1" lang="en-IN" sz="1200">
                <a:solidFill>
                  <a:schemeClr val="dk1"/>
                </a:solidFill>
                <a:latin typeface="Arial"/>
                <a:ea typeface="Arial"/>
                <a:cs typeface="Arial"/>
                <a:sym typeface="Arial"/>
              </a:rPr>
              <a:t>Methodology and Process for Implementation (The System Flow):</a:t>
            </a:r>
            <a:endParaRPr sz="1200">
              <a:solidFill>
                <a:schemeClr val="dk1"/>
              </a:solidFill>
              <a:latin typeface="Arial"/>
              <a:ea typeface="Arial"/>
              <a:cs typeface="Arial"/>
              <a:sym typeface="Arial"/>
            </a:endParaRPr>
          </a:p>
          <a:p>
            <a:pPr indent="0" lvl="1" marL="457200" marR="0" rtl="0" algn="l">
              <a:lnSpc>
                <a:spcPct val="150000"/>
              </a:lnSpc>
              <a:spcBef>
                <a:spcPts val="0"/>
              </a:spcBef>
              <a:spcAft>
                <a:spcPts val="0"/>
              </a:spcAft>
              <a:buNone/>
            </a:pPr>
            <a:r>
              <a:rPr b="1" i="0" lang="en-IN" sz="1200" u="none" cap="none" strike="noStrike">
                <a:solidFill>
                  <a:schemeClr val="dk1"/>
                </a:solidFill>
                <a:latin typeface="Arial"/>
                <a:ea typeface="Arial"/>
                <a:cs typeface="Arial"/>
                <a:sym typeface="Arial"/>
              </a:rPr>
              <a:t>Data Collection (The Wrist):</a:t>
            </a:r>
            <a:r>
              <a:rPr b="0" i="0" lang="en-IN" sz="1200" u="none" cap="none" strike="noStrike">
                <a:solidFill>
                  <a:schemeClr val="dk1"/>
                </a:solidFill>
                <a:latin typeface="Arial"/>
                <a:ea typeface="Arial"/>
                <a:cs typeface="Arial"/>
                <a:sym typeface="Arial"/>
              </a:rPr>
              <a:t> Wearable continuously tracks vitals and fall status, broadcasting it locally via BLE.</a:t>
            </a:r>
            <a:endParaRPr/>
          </a:p>
          <a:p>
            <a:pPr indent="0" lvl="1" marL="457200" marR="0" rtl="0" algn="l">
              <a:lnSpc>
                <a:spcPct val="150000"/>
              </a:lnSpc>
              <a:spcBef>
                <a:spcPts val="0"/>
              </a:spcBef>
              <a:spcAft>
                <a:spcPts val="0"/>
              </a:spcAft>
              <a:buNone/>
            </a:pPr>
            <a:r>
              <a:rPr b="1" i="0" lang="en-IN" sz="1200" u="none" cap="none" strike="noStrike">
                <a:solidFill>
                  <a:schemeClr val="dk1"/>
                </a:solidFill>
                <a:latin typeface="Arial"/>
                <a:ea typeface="Arial"/>
                <a:cs typeface="Arial"/>
                <a:sym typeface="Arial"/>
              </a:rPr>
              <a:t>Environment &amp; Mesh Relay (The Wall):</a:t>
            </a:r>
            <a:r>
              <a:rPr b="0" i="0" lang="en-IN" sz="1200" u="none" cap="none" strike="noStrike">
                <a:solidFill>
                  <a:schemeClr val="dk1"/>
                </a:solidFill>
                <a:latin typeface="Arial"/>
                <a:ea typeface="Arial"/>
                <a:cs typeface="Arial"/>
                <a:sym typeface="Arial"/>
              </a:rPr>
              <a:t> Smart beacons pick up the BLE signal (locating the miner), read local toxic gas levels, and package this data into a LoRa radio packet, bouncing it node-to-node up to the surface.</a:t>
            </a:r>
            <a:endParaRPr/>
          </a:p>
          <a:p>
            <a:pPr indent="0" lvl="1" marL="457200" marR="0" rtl="0" algn="l">
              <a:lnSpc>
                <a:spcPct val="150000"/>
              </a:lnSpc>
              <a:spcBef>
                <a:spcPts val="0"/>
              </a:spcBef>
              <a:spcAft>
                <a:spcPts val="0"/>
              </a:spcAft>
              <a:buNone/>
            </a:pPr>
            <a:r>
              <a:rPr b="1" i="0" lang="en-IN" sz="1200" u="none" cap="none" strike="noStrike">
                <a:solidFill>
                  <a:schemeClr val="dk1"/>
                </a:solidFill>
                <a:latin typeface="Arial"/>
                <a:ea typeface="Arial"/>
                <a:cs typeface="Arial"/>
                <a:sym typeface="Arial"/>
              </a:rPr>
              <a:t>AI Processing (The Surface):</a:t>
            </a:r>
            <a:r>
              <a:rPr b="0" i="0" lang="en-IN" sz="1200" u="none" cap="none" strike="noStrike">
                <a:solidFill>
                  <a:schemeClr val="dk1"/>
                </a:solidFill>
                <a:latin typeface="Arial"/>
                <a:ea typeface="Arial"/>
                <a:cs typeface="Arial"/>
                <a:sym typeface="Arial"/>
              </a:rPr>
              <a:t> The local Python dashboard ingests the data. If the ML model detects a crash in vitals or a spike in gas, it triggers an emergency state and calculates the safest escape route around the hazard.</a:t>
            </a:r>
            <a:endParaRPr/>
          </a:p>
          <a:p>
            <a:pPr indent="0" lvl="1" marL="457200" marR="0" rtl="0" algn="l">
              <a:lnSpc>
                <a:spcPct val="150000"/>
              </a:lnSpc>
              <a:spcBef>
                <a:spcPts val="0"/>
              </a:spcBef>
              <a:spcAft>
                <a:spcPts val="0"/>
              </a:spcAft>
              <a:buNone/>
            </a:pPr>
            <a:r>
              <a:rPr b="1" i="0" lang="en-IN" sz="1200" u="none" cap="none" strike="noStrike">
                <a:solidFill>
                  <a:schemeClr val="dk1"/>
                </a:solidFill>
                <a:latin typeface="Arial"/>
                <a:ea typeface="Arial"/>
                <a:cs typeface="Arial"/>
                <a:sym typeface="Arial"/>
              </a:rPr>
              <a:t>Active Rescue (The Return Signal):</a:t>
            </a:r>
            <a:r>
              <a:rPr b="0" i="0" lang="en-IN" sz="1200" u="none" cap="none" strike="noStrike">
                <a:solidFill>
                  <a:schemeClr val="dk1"/>
                </a:solidFill>
                <a:latin typeface="Arial"/>
                <a:ea typeface="Arial"/>
                <a:cs typeface="Arial"/>
                <a:sym typeface="Arial"/>
              </a:rPr>
              <a:t> The system shoots a command back down the LoRa mesh to the exact beacon nearest the miner. The miner’s wristband vibrates violently, and the LED ring lights up as a compass, pointing them directly toward the safe exit.</a:t>
            </a:r>
            <a:endParaRPr/>
          </a:p>
        </p:txBody>
      </p:sp>
      <p:sp>
        <p:nvSpPr>
          <p:cNvPr id="115" name="Google Shape;115;p1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IN">
                <a:solidFill>
                  <a:schemeClr val="lt1"/>
                </a:solidFill>
              </a:rPr>
              <a:t>‹#›</a:t>
            </a:fld>
            <a:endParaRPr b="1">
              <a:solidFill>
                <a:schemeClr val="lt1"/>
              </a:solidFill>
            </a:endParaRPr>
          </a:p>
        </p:txBody>
      </p:sp>
      <p:sp>
        <p:nvSpPr>
          <p:cNvPr id="116" name="Google Shape;116;p15"/>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@SIH Idea submission- Template</a:t>
            </a:r>
            <a:endParaRPr>
              <a:solidFill>
                <a:schemeClr val="lt1"/>
              </a:solidFill>
            </a:endParaRPr>
          </a:p>
        </p:txBody>
      </p:sp>
      <p:sp>
        <p:nvSpPr>
          <p:cNvPr descr="Your startup LOGO" id="117" name="Google Shape;117;p15"/>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800">
                <a:solidFill>
                  <a:schemeClr val="dk1"/>
                </a:solidFill>
                <a:latin typeface="Arial"/>
                <a:ea typeface="Arial"/>
                <a:cs typeface="Arial"/>
                <a:sym typeface="Arial"/>
              </a:rPr>
              <a:t>Nexus</a:t>
            </a:r>
            <a:endParaRPr sz="1800">
              <a:solidFill>
                <a:schemeClr val="dk1"/>
              </a:solidFill>
              <a:latin typeface="Calibri"/>
              <a:ea typeface="Calibri"/>
              <a:cs typeface="Calibri"/>
              <a:sym typeface="Calibri"/>
            </a:endParaRPr>
          </a:p>
        </p:txBody>
      </p:sp>
      <p:pic>
        <p:nvPicPr>
          <p:cNvPr id="118" name="Google Shape;118;p15"/>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6"/>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25" name="Google Shape;125;p1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IN" sz="3600">
                <a:latin typeface="Times New Roman"/>
                <a:ea typeface="Times New Roman"/>
                <a:cs typeface="Times New Roman"/>
                <a:sym typeface="Times New Roman"/>
              </a:rPr>
              <a:t>FEASIBILITY AND VIABILITY</a:t>
            </a:r>
            <a:endParaRPr/>
          </a:p>
        </p:txBody>
      </p:sp>
      <p:sp>
        <p:nvSpPr>
          <p:cNvPr id="126" name="Google Shape;126;p16"/>
          <p:cNvSpPr txBox="1"/>
          <p:nvPr/>
        </p:nvSpPr>
        <p:spPr>
          <a:xfrm>
            <a:off x="1168400" y="1219150"/>
            <a:ext cx="9385300" cy="48626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IN" sz="1300">
                <a:solidFill>
                  <a:schemeClr val="dk1"/>
                </a:solidFill>
                <a:latin typeface="Calibri"/>
                <a:ea typeface="Calibri"/>
                <a:cs typeface="Calibri"/>
                <a:sym typeface="Calibri"/>
              </a:rPr>
              <a:t>Analysis of the Feasibility of the Idea:</a:t>
            </a:r>
            <a:endParaRPr sz="1300">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None/>
            </a:pPr>
            <a:r>
              <a:rPr b="1" i="0" lang="en-IN" sz="1300" u="none" cap="none" strike="noStrike">
                <a:solidFill>
                  <a:schemeClr val="dk1"/>
                </a:solidFill>
                <a:latin typeface="Calibri"/>
                <a:ea typeface="Calibri"/>
                <a:cs typeface="Calibri"/>
                <a:sym typeface="Calibri"/>
              </a:rPr>
              <a:t>Technical:</a:t>
            </a:r>
            <a:r>
              <a:rPr b="0" i="0" lang="en-IN" sz="1300" u="none" cap="none" strike="noStrike">
                <a:solidFill>
                  <a:schemeClr val="dk1"/>
                </a:solidFill>
                <a:latin typeface="Calibri"/>
                <a:ea typeface="Calibri"/>
                <a:cs typeface="Calibri"/>
                <a:sym typeface="Calibri"/>
              </a:rPr>
              <a:t> Highly feasible. Replaces impossible underground GPS with proven BLE/LoRaWAN radio protocols. Offloading gas sensors to walls prevents mud-clogging.</a:t>
            </a:r>
            <a:endParaRPr/>
          </a:p>
          <a:p>
            <a:pPr indent="0" lvl="1" marL="457200" marR="0" rtl="0" algn="l">
              <a:lnSpc>
                <a:spcPct val="150000"/>
              </a:lnSpc>
              <a:spcBef>
                <a:spcPts val="0"/>
              </a:spcBef>
              <a:spcAft>
                <a:spcPts val="0"/>
              </a:spcAft>
              <a:buNone/>
            </a:pPr>
            <a:r>
              <a:rPr b="1" i="0" lang="en-IN" sz="1300" u="none" cap="none" strike="noStrike">
                <a:solidFill>
                  <a:schemeClr val="dk1"/>
                </a:solidFill>
                <a:latin typeface="Calibri"/>
                <a:ea typeface="Calibri"/>
                <a:cs typeface="Calibri"/>
                <a:sym typeface="Calibri"/>
              </a:rPr>
              <a:t>Economic:</a:t>
            </a:r>
            <a:r>
              <a:rPr b="0" i="0" lang="en-IN" sz="1300" u="none" cap="none" strike="noStrike">
                <a:solidFill>
                  <a:schemeClr val="dk1"/>
                </a:solidFill>
                <a:latin typeface="Calibri"/>
                <a:ea typeface="Calibri"/>
                <a:cs typeface="Calibri"/>
                <a:sym typeface="Calibri"/>
              </a:rPr>
              <a:t> Utilizes low-cost COTS components (ESP32/LoRa). A decentralized wireless mesh is vastly cheaper to deploy than traditional wired mine networks.</a:t>
            </a:r>
            <a:endParaRPr/>
          </a:p>
          <a:p>
            <a:pPr indent="0" lvl="0" marL="0" marR="0" rtl="0" algn="l">
              <a:lnSpc>
                <a:spcPct val="150000"/>
              </a:lnSpc>
              <a:spcBef>
                <a:spcPts val="0"/>
              </a:spcBef>
              <a:spcAft>
                <a:spcPts val="0"/>
              </a:spcAft>
              <a:buNone/>
            </a:pPr>
            <a:r>
              <a:rPr b="1" lang="en-IN" sz="1300">
                <a:solidFill>
                  <a:schemeClr val="dk1"/>
                </a:solidFill>
                <a:latin typeface="Calibri"/>
                <a:ea typeface="Calibri"/>
                <a:cs typeface="Calibri"/>
                <a:sym typeface="Calibri"/>
              </a:rPr>
              <a:t>Potential Challenges and Risks:</a:t>
            </a:r>
            <a:endParaRPr sz="1300">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None/>
            </a:pPr>
            <a:r>
              <a:rPr b="1" i="0" lang="en-IN" sz="1300" u="none" cap="none" strike="noStrike">
                <a:solidFill>
                  <a:schemeClr val="dk1"/>
                </a:solidFill>
                <a:latin typeface="Calibri"/>
                <a:ea typeface="Calibri"/>
                <a:cs typeface="Calibri"/>
                <a:sym typeface="Calibri"/>
              </a:rPr>
              <a:t>Explosion Hazard:</a:t>
            </a:r>
            <a:r>
              <a:rPr b="0" i="0" lang="en-IN" sz="1300" u="none" cap="none" strike="noStrike">
                <a:solidFill>
                  <a:schemeClr val="dk1"/>
                </a:solidFill>
                <a:latin typeface="Calibri"/>
                <a:ea typeface="Calibri"/>
                <a:cs typeface="Calibri"/>
                <a:sym typeface="Calibri"/>
              </a:rPr>
              <a:t> Exposed electronics can cause fatal sparks in methane.</a:t>
            </a:r>
            <a:endParaRPr/>
          </a:p>
          <a:p>
            <a:pPr indent="0" lvl="1" marL="457200" marR="0" rtl="0" algn="l">
              <a:lnSpc>
                <a:spcPct val="150000"/>
              </a:lnSpc>
              <a:spcBef>
                <a:spcPts val="0"/>
              </a:spcBef>
              <a:spcAft>
                <a:spcPts val="0"/>
              </a:spcAft>
              <a:buNone/>
            </a:pPr>
            <a:r>
              <a:rPr b="1" i="0" lang="en-IN" sz="1300" u="none" cap="none" strike="noStrike">
                <a:solidFill>
                  <a:schemeClr val="dk1"/>
                </a:solidFill>
                <a:latin typeface="Calibri"/>
                <a:ea typeface="Calibri"/>
                <a:cs typeface="Calibri"/>
                <a:sym typeface="Calibri"/>
              </a:rPr>
              <a:t>Network Severance:</a:t>
            </a:r>
            <a:r>
              <a:rPr b="0" i="0" lang="en-IN" sz="1300" u="none" cap="none" strike="noStrike">
                <a:solidFill>
                  <a:schemeClr val="dk1"/>
                </a:solidFill>
                <a:latin typeface="Calibri"/>
                <a:ea typeface="Calibri"/>
                <a:cs typeface="Calibri"/>
                <a:sym typeface="Calibri"/>
              </a:rPr>
              <a:t> Massive cave-ins crushing communication nodes.</a:t>
            </a:r>
            <a:endParaRPr/>
          </a:p>
          <a:p>
            <a:pPr indent="0" lvl="1" marL="457200" marR="0" rtl="0" algn="l">
              <a:lnSpc>
                <a:spcPct val="150000"/>
              </a:lnSpc>
              <a:spcBef>
                <a:spcPts val="0"/>
              </a:spcBef>
              <a:spcAft>
                <a:spcPts val="0"/>
              </a:spcAft>
              <a:buNone/>
            </a:pPr>
            <a:r>
              <a:rPr b="1" i="0" lang="en-IN" sz="1300" u="none" cap="none" strike="noStrike">
                <a:solidFill>
                  <a:schemeClr val="dk1"/>
                </a:solidFill>
                <a:latin typeface="Calibri"/>
                <a:ea typeface="Calibri"/>
                <a:cs typeface="Calibri"/>
                <a:sym typeface="Calibri"/>
              </a:rPr>
              <a:t>Alarm Fatigue:</a:t>
            </a:r>
            <a:r>
              <a:rPr b="0" i="0" lang="en-IN" sz="1300" u="none" cap="none" strike="noStrike">
                <a:solidFill>
                  <a:schemeClr val="dk1"/>
                </a:solidFill>
                <a:latin typeface="Calibri"/>
                <a:ea typeface="Calibri"/>
                <a:cs typeface="Calibri"/>
                <a:sym typeface="Calibri"/>
              </a:rPr>
              <a:t> False health alerts caused by normal heavy physical labor.</a:t>
            </a:r>
            <a:endParaRPr/>
          </a:p>
          <a:p>
            <a:pPr indent="0" lvl="0" marL="0" marR="0" rtl="0" algn="l">
              <a:lnSpc>
                <a:spcPct val="150000"/>
              </a:lnSpc>
              <a:spcBef>
                <a:spcPts val="0"/>
              </a:spcBef>
              <a:spcAft>
                <a:spcPts val="0"/>
              </a:spcAft>
              <a:buNone/>
            </a:pPr>
            <a:r>
              <a:rPr b="1" lang="en-IN" sz="1300">
                <a:solidFill>
                  <a:schemeClr val="dk1"/>
                </a:solidFill>
                <a:latin typeface="Calibri"/>
                <a:ea typeface="Calibri"/>
                <a:cs typeface="Calibri"/>
                <a:sym typeface="Calibri"/>
              </a:rPr>
              <a:t>Strategies for Overcoming these Challenges:</a:t>
            </a:r>
            <a:endParaRPr sz="1300">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None/>
            </a:pPr>
            <a:r>
              <a:rPr b="1" i="0" lang="en-IN" sz="1300" u="none" cap="none" strike="noStrike">
                <a:solidFill>
                  <a:schemeClr val="dk1"/>
                </a:solidFill>
                <a:latin typeface="Calibri"/>
                <a:ea typeface="Calibri"/>
                <a:cs typeface="Calibri"/>
                <a:sym typeface="Calibri"/>
              </a:rPr>
              <a:t>Intrinsically Safe Design:</a:t>
            </a:r>
            <a:r>
              <a:rPr b="0" i="0" lang="en-IN" sz="1300" u="none" cap="none" strike="noStrike">
                <a:solidFill>
                  <a:schemeClr val="dk1"/>
                </a:solidFill>
                <a:latin typeface="Calibri"/>
                <a:ea typeface="Calibri"/>
                <a:cs typeface="Calibri"/>
                <a:sym typeface="Calibri"/>
              </a:rPr>
              <a:t> The screenless wearable is potted in solid epoxy resin, making it completely spark-proof and waterproof (ATEX/IP68 compliant).</a:t>
            </a:r>
            <a:endParaRPr/>
          </a:p>
          <a:p>
            <a:pPr indent="0" lvl="1" marL="457200" marR="0" rtl="0" algn="l">
              <a:lnSpc>
                <a:spcPct val="150000"/>
              </a:lnSpc>
              <a:spcBef>
                <a:spcPts val="0"/>
              </a:spcBef>
              <a:spcAft>
                <a:spcPts val="0"/>
              </a:spcAft>
              <a:buNone/>
            </a:pPr>
            <a:r>
              <a:rPr b="1" i="0" lang="en-IN" sz="1300" u="none" cap="none" strike="noStrike">
                <a:solidFill>
                  <a:schemeClr val="dk1"/>
                </a:solidFill>
                <a:latin typeface="Calibri"/>
                <a:ea typeface="Calibri"/>
                <a:cs typeface="Calibri"/>
                <a:sym typeface="Calibri"/>
              </a:rPr>
              <a:t>Self-Healing &amp; Survival Mode:</a:t>
            </a:r>
            <a:r>
              <a:rPr b="0" i="0" lang="en-IN" sz="1300" u="none" cap="none" strike="noStrike">
                <a:solidFill>
                  <a:schemeClr val="dk1"/>
                </a:solidFill>
                <a:latin typeface="Calibri"/>
                <a:ea typeface="Calibri"/>
                <a:cs typeface="Calibri"/>
                <a:sym typeface="Calibri"/>
              </a:rPr>
              <a:t> The LoRa mesh dynamically reroutes data around crushed nodes. If isolated, the wearable drops into a low-power mode to broadcast location pings for up to 7 days.</a:t>
            </a:r>
            <a:endParaRPr/>
          </a:p>
          <a:p>
            <a:pPr indent="0" lvl="1" marL="457200" marR="0" rtl="0" algn="l">
              <a:lnSpc>
                <a:spcPct val="150000"/>
              </a:lnSpc>
              <a:spcBef>
                <a:spcPts val="0"/>
              </a:spcBef>
              <a:spcAft>
                <a:spcPts val="0"/>
              </a:spcAft>
              <a:buNone/>
            </a:pPr>
            <a:r>
              <a:rPr b="1" i="0" lang="en-IN" sz="1300" u="none" cap="none" strike="noStrike">
                <a:solidFill>
                  <a:schemeClr val="dk1"/>
                </a:solidFill>
                <a:latin typeface="Calibri"/>
                <a:ea typeface="Calibri"/>
                <a:cs typeface="Calibri"/>
                <a:sym typeface="Calibri"/>
              </a:rPr>
              <a:t>AI Sensor Fusion:</a:t>
            </a:r>
            <a:r>
              <a:rPr b="0" i="0" lang="en-IN" sz="1300" u="none" cap="none" strike="noStrike">
                <a:solidFill>
                  <a:schemeClr val="dk1"/>
                </a:solidFill>
                <a:latin typeface="Calibri"/>
                <a:ea typeface="Calibri"/>
                <a:cs typeface="Calibri"/>
                <a:sym typeface="Calibri"/>
              </a:rPr>
              <a:t> The local AI fuses vital signs (HR) with motion data (IMU), ensuring medical alerts only trigger during a genuine fall or collapse.</a:t>
            </a:r>
            <a:endParaRPr/>
          </a:p>
        </p:txBody>
      </p:sp>
      <p:sp>
        <p:nvSpPr>
          <p:cNvPr id="127" name="Google Shape;127;p1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IN"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28" name="Google Shape;128;p16"/>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Oswald"/>
              <a:buNone/>
            </a:pPr>
            <a:r>
              <a:rPr b="0" i="0" lang="en-IN" sz="1200" u="none" cap="none" strike="noStrike">
                <a:solidFill>
                  <a:srgbClr val="FFFFFF"/>
                </a:solidFill>
                <a:latin typeface="Oswald"/>
                <a:ea typeface="Oswald"/>
                <a:cs typeface="Oswald"/>
                <a:sym typeface="Oswald"/>
              </a:rPr>
              <a:t>@SIH Idea submission- Template</a:t>
            </a:r>
            <a:endParaRPr b="0" i="0" sz="1200" u="none" cap="none" strike="noStrike">
              <a:solidFill>
                <a:srgbClr val="FFFFFF"/>
              </a:solidFill>
              <a:latin typeface="Oswald"/>
              <a:ea typeface="Oswald"/>
              <a:cs typeface="Oswald"/>
              <a:sym typeface="Oswald"/>
            </a:endParaRPr>
          </a:p>
        </p:txBody>
      </p:sp>
      <p:sp>
        <p:nvSpPr>
          <p:cNvPr descr="Your startup LOGO" id="129" name="Google Shape;129;p16"/>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800">
                <a:solidFill>
                  <a:schemeClr val="dk1"/>
                </a:solidFill>
                <a:latin typeface="Arial"/>
                <a:ea typeface="Arial"/>
                <a:cs typeface="Arial"/>
                <a:sym typeface="Arial"/>
              </a:rPr>
              <a:t>Nexus</a:t>
            </a:r>
            <a:endParaRPr sz="1800">
              <a:solidFill>
                <a:schemeClr val="dk1"/>
              </a:solidFill>
              <a:latin typeface="Calibri"/>
              <a:ea typeface="Calibri"/>
              <a:cs typeface="Calibri"/>
              <a:sym typeface="Calibri"/>
            </a:endParaRPr>
          </a:p>
        </p:txBody>
      </p:sp>
      <p:pic>
        <p:nvPicPr>
          <p:cNvPr id="130" name="Google Shape;130;p16"/>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37" name="Google Shape;137;p1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IN" sz="3600">
                <a:latin typeface="Times New Roman"/>
                <a:ea typeface="Times New Roman"/>
                <a:cs typeface="Times New Roman"/>
                <a:sym typeface="Times New Roman"/>
              </a:rPr>
              <a:t>IMPACT AND BENEFITS</a:t>
            </a:r>
            <a:endParaRPr/>
          </a:p>
        </p:txBody>
      </p:sp>
      <p:sp>
        <p:nvSpPr>
          <p:cNvPr id="138" name="Google Shape;138;p17"/>
          <p:cNvSpPr txBox="1"/>
          <p:nvPr/>
        </p:nvSpPr>
        <p:spPr>
          <a:xfrm>
            <a:off x="1403349" y="1395437"/>
            <a:ext cx="9385300" cy="374743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IN" sz="1600">
                <a:solidFill>
                  <a:schemeClr val="dk1"/>
                </a:solidFill>
                <a:latin typeface="Calibri"/>
                <a:ea typeface="Calibri"/>
                <a:cs typeface="Calibri"/>
                <a:sym typeface="Calibri"/>
              </a:rPr>
              <a:t>Potential impact on the target audience:</a:t>
            </a:r>
            <a:r>
              <a:rPr lang="en-IN" sz="1600">
                <a:solidFill>
                  <a:schemeClr val="dk1"/>
                </a:solidFill>
                <a:latin typeface="Calibri"/>
                <a:ea typeface="Calibri"/>
                <a:cs typeface="Calibri"/>
                <a:sym typeface="Calibri"/>
              </a:rPr>
              <a:t> Replaces underground panic with a zero-cognitive-load LED navigation system. By actively guiding miners away from hazards, it drastically reduces fatalities caused by roof falls (cave-ins) and toxic gas exposure.</a:t>
            </a:r>
            <a:endParaRPr/>
          </a:p>
          <a:p>
            <a:pPr indent="0" lvl="0" marL="0" marR="0" rtl="0" algn="l">
              <a:lnSpc>
                <a:spcPct val="150000"/>
              </a:lnSpc>
              <a:spcBef>
                <a:spcPts val="0"/>
              </a:spcBef>
              <a:spcAft>
                <a:spcPts val="0"/>
              </a:spcAft>
              <a:buNone/>
            </a:pPr>
            <a:r>
              <a:rPr b="1" lang="en-IN" sz="1600">
                <a:solidFill>
                  <a:schemeClr val="dk1"/>
                </a:solidFill>
                <a:latin typeface="Calibri"/>
                <a:ea typeface="Calibri"/>
                <a:cs typeface="Calibri"/>
                <a:sym typeface="Calibri"/>
              </a:rPr>
              <a:t>Benefits of the solution:</a:t>
            </a:r>
            <a:endParaRPr sz="1600">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None/>
            </a:pPr>
            <a:r>
              <a:rPr b="1" i="0" lang="en-IN" sz="1600" u="none" cap="none" strike="noStrike">
                <a:solidFill>
                  <a:schemeClr val="dk1"/>
                </a:solidFill>
                <a:latin typeface="Calibri"/>
                <a:ea typeface="Calibri"/>
                <a:cs typeface="Calibri"/>
                <a:sym typeface="Calibri"/>
              </a:rPr>
              <a:t>Social:</a:t>
            </a:r>
            <a:r>
              <a:rPr b="0" i="0" lang="en-IN" sz="1600" u="none" cap="none" strike="noStrike">
                <a:solidFill>
                  <a:schemeClr val="dk1"/>
                </a:solidFill>
                <a:latin typeface="Calibri"/>
                <a:ea typeface="Calibri"/>
                <a:cs typeface="Calibri"/>
                <a:sym typeface="Calibri"/>
              </a:rPr>
              <a:t> Protects the lives of high-risk manual laborers in one of the world's most dangerous industries, ensuring they return home to their families.</a:t>
            </a:r>
            <a:endParaRPr/>
          </a:p>
          <a:p>
            <a:pPr indent="0" lvl="1" marL="457200" marR="0" rtl="0" algn="l">
              <a:lnSpc>
                <a:spcPct val="150000"/>
              </a:lnSpc>
              <a:spcBef>
                <a:spcPts val="0"/>
              </a:spcBef>
              <a:spcAft>
                <a:spcPts val="0"/>
              </a:spcAft>
              <a:buNone/>
            </a:pPr>
            <a:r>
              <a:rPr b="1" i="0" lang="en-IN" sz="1600" u="none" cap="none" strike="noStrike">
                <a:solidFill>
                  <a:schemeClr val="dk1"/>
                </a:solidFill>
                <a:latin typeface="Calibri"/>
                <a:ea typeface="Calibri"/>
                <a:cs typeface="Calibri"/>
                <a:sym typeface="Calibri"/>
              </a:rPr>
              <a:t>Economic:</a:t>
            </a:r>
            <a:r>
              <a:rPr b="0" i="0" lang="en-IN" sz="1600" u="none" cap="none" strike="noStrike">
                <a:solidFill>
                  <a:schemeClr val="dk1"/>
                </a:solidFill>
                <a:latin typeface="Calibri"/>
                <a:ea typeface="Calibri"/>
                <a:cs typeface="Calibri"/>
                <a:sym typeface="Calibri"/>
              </a:rPr>
              <a:t> Minimizes costly multi-day mine shutdowns and complex rescue operations. Drastically reduces "workday loss" metrics and lowers corporate insurance premiums by catching hazards early.</a:t>
            </a:r>
            <a:endParaRPr/>
          </a:p>
          <a:p>
            <a:pPr indent="0" lvl="1" marL="457200" marR="0" rtl="0" algn="l">
              <a:lnSpc>
                <a:spcPct val="150000"/>
              </a:lnSpc>
              <a:spcBef>
                <a:spcPts val="0"/>
              </a:spcBef>
              <a:spcAft>
                <a:spcPts val="0"/>
              </a:spcAft>
              <a:buNone/>
            </a:pPr>
            <a:r>
              <a:rPr b="1" i="0" lang="en-IN" sz="1600" u="none" cap="none" strike="noStrike">
                <a:solidFill>
                  <a:schemeClr val="dk1"/>
                </a:solidFill>
                <a:latin typeface="Calibri"/>
                <a:ea typeface="Calibri"/>
                <a:cs typeface="Calibri"/>
                <a:sym typeface="Calibri"/>
              </a:rPr>
              <a:t>Environmental:</a:t>
            </a:r>
            <a:r>
              <a:rPr b="0" i="0" lang="en-IN" sz="1600" u="none" cap="none" strike="noStrike">
                <a:solidFill>
                  <a:schemeClr val="dk1"/>
                </a:solidFill>
                <a:latin typeface="Calibri"/>
                <a:ea typeface="Calibri"/>
                <a:cs typeface="Calibri"/>
                <a:sym typeface="Calibri"/>
              </a:rPr>
              <a:t> Distributed environmental wall nodes detect micro-leaks of hazardous gases (Methane/CO) early, preventing catastrophic underground explosions and environmental contamination.</a:t>
            </a:r>
            <a:endParaRPr/>
          </a:p>
        </p:txBody>
      </p:sp>
      <p:sp>
        <p:nvSpPr>
          <p:cNvPr id="139" name="Google Shape;139;p1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IN"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40" name="Google Shape;140;p17"/>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Oswald"/>
              <a:buNone/>
            </a:pPr>
            <a:r>
              <a:rPr b="0" i="0" lang="en-IN" sz="1200" u="none" cap="none" strike="noStrike">
                <a:solidFill>
                  <a:srgbClr val="FFFFFF"/>
                </a:solidFill>
                <a:latin typeface="Oswald"/>
                <a:ea typeface="Oswald"/>
                <a:cs typeface="Oswald"/>
                <a:sym typeface="Oswald"/>
              </a:rPr>
              <a:t>@SIH Idea submission- Template</a:t>
            </a:r>
            <a:endParaRPr b="0" i="0" sz="1200" u="none" cap="none" strike="noStrike">
              <a:solidFill>
                <a:srgbClr val="FFFFFF"/>
              </a:solidFill>
              <a:latin typeface="Oswald"/>
              <a:ea typeface="Oswald"/>
              <a:cs typeface="Oswald"/>
              <a:sym typeface="Oswald"/>
            </a:endParaRPr>
          </a:p>
        </p:txBody>
      </p:sp>
      <p:sp>
        <p:nvSpPr>
          <p:cNvPr descr="Your startup LOGO" id="141" name="Google Shape;141;p17"/>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800">
                <a:solidFill>
                  <a:schemeClr val="dk1"/>
                </a:solidFill>
                <a:latin typeface="Arial"/>
                <a:ea typeface="Arial"/>
                <a:cs typeface="Arial"/>
                <a:sym typeface="Arial"/>
              </a:rPr>
              <a:t>Nexus</a:t>
            </a:r>
            <a:endParaRPr sz="1800">
              <a:solidFill>
                <a:schemeClr val="dk1"/>
              </a:solidFill>
              <a:latin typeface="Calibri"/>
              <a:ea typeface="Calibri"/>
              <a:cs typeface="Calibri"/>
              <a:sym typeface="Calibri"/>
            </a:endParaRPr>
          </a:p>
        </p:txBody>
      </p:sp>
      <p:pic>
        <p:nvPicPr>
          <p:cNvPr id="142" name="Google Shape;142;p17"/>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49" name="Google Shape;149;p18"/>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IN" sz="3600">
                <a:latin typeface="Times New Roman"/>
                <a:ea typeface="Times New Roman"/>
                <a:cs typeface="Times New Roman"/>
                <a:sym typeface="Times New Roman"/>
              </a:rPr>
              <a:t>RESEARCH  AND REFERENCES</a:t>
            </a:r>
            <a:endParaRPr/>
          </a:p>
        </p:txBody>
      </p:sp>
      <p:sp>
        <p:nvSpPr>
          <p:cNvPr id="150" name="Google Shape;150;p18"/>
          <p:cNvSpPr txBox="1"/>
          <p:nvPr/>
        </p:nvSpPr>
        <p:spPr>
          <a:xfrm>
            <a:off x="1659467" y="976574"/>
            <a:ext cx="9385300" cy="546277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IN" sz="1300">
                <a:solidFill>
                  <a:schemeClr val="dk1"/>
                </a:solidFill>
                <a:latin typeface="Calibri"/>
                <a:ea typeface="Calibri"/>
                <a:cs typeface="Calibri"/>
                <a:sym typeface="Calibri"/>
              </a:rPr>
              <a:t>Underground LoRaWAN Mesh Communication:</a:t>
            </a:r>
            <a:endParaRPr sz="1300">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None/>
            </a:pPr>
            <a:r>
              <a:rPr b="0" i="1" lang="en-IN" sz="1300" u="none" cap="none" strike="noStrike">
                <a:solidFill>
                  <a:schemeClr val="dk1"/>
                </a:solidFill>
                <a:latin typeface="Calibri"/>
                <a:ea typeface="Calibri"/>
                <a:cs typeface="Calibri"/>
                <a:sym typeface="Calibri"/>
              </a:rPr>
              <a:t>Research:</a:t>
            </a:r>
            <a:r>
              <a:rPr b="0" i="0" lang="en-IN" sz="1300" u="none" cap="none" strike="noStrike">
                <a:solidFill>
                  <a:schemeClr val="dk1"/>
                </a:solidFill>
                <a:latin typeface="Calibri"/>
                <a:ea typeface="Calibri"/>
                <a:cs typeface="Calibri"/>
                <a:sym typeface="Calibri"/>
              </a:rPr>
              <a:t> Validates the use of sub-GHz LoRa radio for telemetry in non-line-of-sight underground coal mines, solving the Wi-Fi/GPS limitation.</a:t>
            </a:r>
            <a:endParaRPr/>
          </a:p>
          <a:p>
            <a:pPr indent="0" lvl="1" marL="457200" marR="0" rtl="0" algn="l">
              <a:lnSpc>
                <a:spcPct val="150000"/>
              </a:lnSpc>
              <a:spcBef>
                <a:spcPts val="0"/>
              </a:spcBef>
              <a:spcAft>
                <a:spcPts val="0"/>
              </a:spcAft>
              <a:buNone/>
            </a:pPr>
            <a:r>
              <a:rPr b="0" i="1" lang="en-IN" sz="1300" u="none" cap="none" strike="noStrike">
                <a:solidFill>
                  <a:schemeClr val="dk1"/>
                </a:solidFill>
                <a:latin typeface="Calibri"/>
                <a:ea typeface="Calibri"/>
                <a:cs typeface="Calibri"/>
                <a:sym typeface="Calibri"/>
              </a:rPr>
              <a:t>Reference:</a:t>
            </a:r>
            <a:r>
              <a:rPr b="0" i="0" lang="en-IN" sz="1300" u="none" cap="none" strike="noStrike">
                <a:solidFill>
                  <a:schemeClr val="dk1"/>
                </a:solidFill>
                <a:latin typeface="Calibri"/>
                <a:ea typeface="Calibri"/>
                <a:cs typeface="Calibri"/>
                <a:sym typeface="Calibri"/>
              </a:rPr>
              <a:t> MDPI - "Reliability of LoRaWAN Communications in Mining Environments" (2024) &amp; Preprints - "Advancements in Mine Communication Systems" (2026).</a:t>
            </a:r>
            <a:endParaRPr/>
          </a:p>
          <a:p>
            <a:pPr indent="0" lvl="0" marL="0" marR="0" rtl="0" algn="l">
              <a:lnSpc>
                <a:spcPct val="150000"/>
              </a:lnSpc>
              <a:spcBef>
                <a:spcPts val="0"/>
              </a:spcBef>
              <a:spcAft>
                <a:spcPts val="0"/>
              </a:spcAft>
              <a:buNone/>
            </a:pPr>
            <a:r>
              <a:rPr b="1" lang="en-IN" sz="1300">
                <a:solidFill>
                  <a:schemeClr val="dk1"/>
                </a:solidFill>
                <a:latin typeface="Calibri"/>
                <a:ea typeface="Calibri"/>
                <a:cs typeface="Calibri"/>
                <a:sym typeface="Calibri"/>
              </a:rPr>
              <a:t>BLE (Bluetooth Low Energy) RSSI for Confined Positioning:</a:t>
            </a:r>
            <a:endParaRPr sz="1300">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None/>
            </a:pPr>
            <a:r>
              <a:rPr b="0" i="1" lang="en-IN" sz="1300" u="none" cap="none" strike="noStrike">
                <a:solidFill>
                  <a:schemeClr val="dk1"/>
                </a:solidFill>
                <a:latin typeface="Calibri"/>
                <a:ea typeface="Calibri"/>
                <a:cs typeface="Calibri"/>
                <a:sym typeface="Calibri"/>
              </a:rPr>
              <a:t>Research:</a:t>
            </a:r>
            <a:r>
              <a:rPr b="0" i="0" lang="en-IN" sz="1300" u="none" cap="none" strike="noStrike">
                <a:solidFill>
                  <a:schemeClr val="dk1"/>
                </a:solidFill>
                <a:latin typeface="Calibri"/>
                <a:ea typeface="Calibri"/>
                <a:cs typeface="Calibri"/>
                <a:sym typeface="Calibri"/>
              </a:rPr>
              <a:t> Explains the mathematical use of BLE beacons for proximity tracking and indoor positioning in confined, GPS-denied environments.</a:t>
            </a:r>
            <a:endParaRPr/>
          </a:p>
          <a:p>
            <a:pPr indent="0" lvl="1" marL="457200" marR="0" rtl="0" algn="l">
              <a:lnSpc>
                <a:spcPct val="150000"/>
              </a:lnSpc>
              <a:spcBef>
                <a:spcPts val="0"/>
              </a:spcBef>
              <a:spcAft>
                <a:spcPts val="0"/>
              </a:spcAft>
              <a:buNone/>
            </a:pPr>
            <a:r>
              <a:rPr b="0" i="1" lang="en-IN" sz="1300" u="none" cap="none" strike="noStrike">
                <a:solidFill>
                  <a:schemeClr val="dk1"/>
                </a:solidFill>
                <a:latin typeface="Calibri"/>
                <a:ea typeface="Calibri"/>
                <a:cs typeface="Calibri"/>
                <a:sym typeface="Calibri"/>
              </a:rPr>
              <a:t>Reference:</a:t>
            </a:r>
            <a:r>
              <a:rPr b="0" i="0" lang="en-IN" sz="1300" u="none" cap="none" strike="noStrike">
                <a:solidFill>
                  <a:schemeClr val="dk1"/>
                </a:solidFill>
                <a:latin typeface="Calibri"/>
                <a:ea typeface="Calibri"/>
                <a:cs typeface="Calibri"/>
                <a:sym typeface="Calibri"/>
              </a:rPr>
              <a:t> MDPI Electronics - "Innovative Indoor Positioning: BLE Beacons for Tracking" (2025).</a:t>
            </a:r>
            <a:endParaRPr/>
          </a:p>
          <a:p>
            <a:pPr indent="0" lvl="0" marL="0" marR="0" rtl="0" algn="l">
              <a:lnSpc>
                <a:spcPct val="150000"/>
              </a:lnSpc>
              <a:spcBef>
                <a:spcPts val="0"/>
              </a:spcBef>
              <a:spcAft>
                <a:spcPts val="0"/>
              </a:spcAft>
              <a:buNone/>
            </a:pPr>
            <a:r>
              <a:rPr b="1" lang="en-IN" sz="1300">
                <a:solidFill>
                  <a:schemeClr val="dk1"/>
                </a:solidFill>
                <a:latin typeface="Calibri"/>
                <a:ea typeface="Calibri"/>
                <a:cs typeface="Calibri"/>
                <a:sym typeface="Calibri"/>
              </a:rPr>
              <a:t>ATEX &amp; Intrinsic Safety Standards (IEC 60079-11):</a:t>
            </a:r>
            <a:endParaRPr sz="1300">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None/>
            </a:pPr>
            <a:r>
              <a:rPr b="0" i="1" lang="en-IN" sz="1300" u="none" cap="none" strike="noStrike">
                <a:solidFill>
                  <a:schemeClr val="dk1"/>
                </a:solidFill>
                <a:latin typeface="Calibri"/>
                <a:ea typeface="Calibri"/>
                <a:cs typeface="Calibri"/>
                <a:sym typeface="Calibri"/>
              </a:rPr>
              <a:t>Research:</a:t>
            </a:r>
            <a:r>
              <a:rPr b="0" i="0" lang="en-IN" sz="1300" u="none" cap="none" strike="noStrike">
                <a:solidFill>
                  <a:schemeClr val="dk1"/>
                </a:solidFill>
                <a:latin typeface="Calibri"/>
                <a:ea typeface="Calibri"/>
                <a:cs typeface="Calibri"/>
                <a:sym typeface="Calibri"/>
              </a:rPr>
              <a:t> Industrial safety guidelines (Ex ia) dictating that electronics in Zone 0 (methane-rich) environments must be sealed, low-voltage, and spark-proof to prevent explosions.</a:t>
            </a:r>
            <a:endParaRPr/>
          </a:p>
          <a:p>
            <a:pPr indent="0" lvl="1" marL="457200" marR="0" rtl="0" algn="l">
              <a:lnSpc>
                <a:spcPct val="150000"/>
              </a:lnSpc>
              <a:spcBef>
                <a:spcPts val="0"/>
              </a:spcBef>
              <a:spcAft>
                <a:spcPts val="0"/>
              </a:spcAft>
              <a:buNone/>
            </a:pPr>
            <a:r>
              <a:rPr b="0" i="1" lang="en-IN" sz="1300" u="none" cap="none" strike="noStrike">
                <a:solidFill>
                  <a:schemeClr val="dk1"/>
                </a:solidFill>
                <a:latin typeface="Calibri"/>
                <a:ea typeface="Calibri"/>
                <a:cs typeface="Calibri"/>
                <a:sym typeface="Calibri"/>
              </a:rPr>
              <a:t>Reference:</a:t>
            </a:r>
            <a:r>
              <a:rPr b="0" i="0" lang="en-IN" sz="1300" u="none" cap="none" strike="noStrike">
                <a:solidFill>
                  <a:schemeClr val="dk1"/>
                </a:solidFill>
                <a:latin typeface="Calibri"/>
                <a:ea typeface="Calibri"/>
                <a:cs typeface="Calibri"/>
                <a:sym typeface="Calibri"/>
              </a:rPr>
              <a:t> International Electrotechnical Commission (IEC) standard for Explosive Atmospheres – Equipment protection by intrinsic safety "i".</a:t>
            </a:r>
            <a:endParaRPr/>
          </a:p>
          <a:p>
            <a:pPr indent="0" lvl="0" marL="0" marR="0" rtl="0" algn="l">
              <a:lnSpc>
                <a:spcPct val="150000"/>
              </a:lnSpc>
              <a:spcBef>
                <a:spcPts val="0"/>
              </a:spcBef>
              <a:spcAft>
                <a:spcPts val="0"/>
              </a:spcAft>
              <a:buNone/>
            </a:pPr>
            <a:r>
              <a:rPr b="1" lang="en-IN" sz="1300">
                <a:solidFill>
                  <a:schemeClr val="dk1"/>
                </a:solidFill>
                <a:latin typeface="Calibri"/>
                <a:ea typeface="Calibri"/>
                <a:cs typeface="Calibri"/>
                <a:sym typeface="Calibri"/>
              </a:rPr>
              <a:t>Physiological Sensor Data (MAX30102 / MPU6050):</a:t>
            </a:r>
            <a:endParaRPr sz="1300">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None/>
            </a:pPr>
            <a:r>
              <a:rPr b="0" i="1" lang="en-IN" sz="1300" u="none" cap="none" strike="noStrike">
                <a:solidFill>
                  <a:schemeClr val="dk1"/>
                </a:solidFill>
                <a:latin typeface="Calibri"/>
                <a:ea typeface="Calibri"/>
                <a:cs typeface="Calibri"/>
                <a:sym typeface="Calibri"/>
              </a:rPr>
              <a:t>Research:</a:t>
            </a:r>
            <a:r>
              <a:rPr b="0" i="0" lang="en-IN" sz="1300" u="none" cap="none" strike="noStrike">
                <a:solidFill>
                  <a:schemeClr val="dk1"/>
                </a:solidFill>
                <a:latin typeface="Calibri"/>
                <a:ea typeface="Calibri"/>
                <a:cs typeface="Calibri"/>
                <a:sym typeface="Calibri"/>
              </a:rPr>
              <a:t> Utilizing optical PPG sensors and 6-axis IMUs (accelerometers) for real-time sensor fusion to accurately detect human falls and physiological stress without false positives.</a:t>
            </a:r>
            <a:endParaRPr/>
          </a:p>
          <a:p>
            <a:pPr indent="0" lvl="1" marL="457200" marR="0" rtl="0" algn="l">
              <a:lnSpc>
                <a:spcPct val="150000"/>
              </a:lnSpc>
              <a:spcBef>
                <a:spcPts val="0"/>
              </a:spcBef>
              <a:spcAft>
                <a:spcPts val="0"/>
              </a:spcAft>
              <a:buNone/>
            </a:pPr>
            <a:r>
              <a:rPr b="0" i="1" lang="en-IN" sz="1300" u="none" cap="none" strike="noStrike">
                <a:solidFill>
                  <a:schemeClr val="dk1"/>
                </a:solidFill>
                <a:latin typeface="Calibri"/>
                <a:ea typeface="Calibri"/>
                <a:cs typeface="Calibri"/>
                <a:sym typeface="Calibri"/>
              </a:rPr>
              <a:t>Reference:</a:t>
            </a:r>
            <a:r>
              <a:rPr b="0" i="0" lang="en-IN" sz="1300" u="none" cap="none" strike="noStrike">
                <a:solidFill>
                  <a:schemeClr val="dk1"/>
                </a:solidFill>
                <a:latin typeface="Calibri"/>
                <a:ea typeface="Calibri"/>
                <a:cs typeface="Calibri"/>
                <a:sym typeface="Calibri"/>
              </a:rPr>
              <a:t> Analog Devices / Maxim Integrated official MAX30102 clinical datasheets.</a:t>
            </a:r>
            <a:endParaRPr/>
          </a:p>
        </p:txBody>
      </p:sp>
      <p:sp>
        <p:nvSpPr>
          <p:cNvPr id="151" name="Google Shape;151;p1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IN"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52" name="Google Shape;152;p18"/>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Oswald"/>
              <a:buNone/>
            </a:pPr>
            <a:r>
              <a:rPr b="0" i="0" lang="en-IN" sz="1200" u="none" cap="none" strike="noStrike">
                <a:solidFill>
                  <a:srgbClr val="FFFFFF"/>
                </a:solidFill>
                <a:latin typeface="Oswald"/>
                <a:ea typeface="Oswald"/>
                <a:cs typeface="Oswald"/>
                <a:sym typeface="Oswald"/>
              </a:rPr>
              <a:t>@SIH Idea submission- Template</a:t>
            </a:r>
            <a:endParaRPr b="0" i="0" sz="1200" u="none" cap="none" strike="noStrike">
              <a:solidFill>
                <a:srgbClr val="FFFFFF"/>
              </a:solidFill>
              <a:latin typeface="Oswald"/>
              <a:ea typeface="Oswald"/>
              <a:cs typeface="Oswald"/>
              <a:sym typeface="Oswald"/>
            </a:endParaRPr>
          </a:p>
        </p:txBody>
      </p:sp>
      <p:sp>
        <p:nvSpPr>
          <p:cNvPr descr="Your startup LOGO" id="153" name="Google Shape;153;p18"/>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800">
                <a:solidFill>
                  <a:schemeClr val="dk1"/>
                </a:solidFill>
                <a:latin typeface="Arial"/>
                <a:ea typeface="Arial"/>
                <a:cs typeface="Arial"/>
                <a:sym typeface="Arial"/>
              </a:rPr>
              <a:t>Nexus</a:t>
            </a:r>
            <a:endParaRPr sz="1800">
              <a:solidFill>
                <a:schemeClr val="dk1"/>
              </a:solidFill>
              <a:latin typeface="Calibri"/>
              <a:ea typeface="Calibri"/>
              <a:cs typeface="Calibri"/>
              <a:sym typeface="Calibri"/>
            </a:endParaRPr>
          </a:p>
        </p:txBody>
      </p:sp>
      <p:pic>
        <p:nvPicPr>
          <p:cNvPr id="154" name="Google Shape;154;p18"/>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