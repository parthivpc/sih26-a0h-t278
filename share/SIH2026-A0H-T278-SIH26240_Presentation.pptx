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19200" y="-208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-786329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696093"/>
            <a:ext cx="6947596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–SIH26240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Title-Smart Water Purification and Quality Monitoring System for Rural and Mining-Affected Areas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Theme-Smart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Category- Clean &amp; </a:t>
            </a:r>
            <a:r>
              <a:rPr 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 Technology</a:t>
            </a:r>
            <a:endParaRPr lang="en-US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ID-SIH26-A0H-T278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 - Nexus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rPr>
                <a:solidFill>
                  <a:srgbClr val="000000"/>
                </a:solidFill>
              </a:rPr>
              <a:t>A semi-portable, electric-powered 6-stage purifier designed for difficult water sources near mining and agricultural areas.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40080" y="1965960"/>
            <a:ext cx="347472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600" b="1"/>
            </a:pPr>
            <a:r>
              <a:rPr dirty="0">
                <a:solidFill>
                  <a:srgbClr val="000000"/>
                </a:solidFill>
              </a:rPr>
              <a:t>CORE CONCEPT</a:t>
            </a:r>
          </a:p>
          <a:p>
            <a:pPr>
              <a:spcBef>
                <a:spcPts val="400"/>
              </a:spcBef>
              <a:defRPr sz="1200"/>
            </a:pPr>
            <a:r>
              <a:rPr sz="1600" dirty="0">
                <a:solidFill>
                  <a:srgbClr val="000000"/>
                </a:solidFill>
              </a:rPr>
              <a:t>Medium-sized wheeled unit • on-site treatment • battery backup • emergency solar charging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343400" y="1965960"/>
            <a:ext cx="3474720" cy="146304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600" b="1"/>
            </a:pPr>
            <a:r>
              <a:rPr dirty="0">
                <a:solidFill>
                  <a:srgbClr val="000000"/>
                </a:solidFill>
              </a:rPr>
              <a:t>SIX-STAGE TREATMENT</a:t>
            </a:r>
          </a:p>
          <a:p>
            <a:pPr>
              <a:spcBef>
                <a:spcPts val="400"/>
              </a:spcBef>
              <a:defRPr sz="1100"/>
            </a:pPr>
            <a:r>
              <a:rPr sz="1600" dirty="0">
                <a:solidFill>
                  <a:srgbClr val="000000"/>
                </a:solidFill>
              </a:rPr>
              <a:t>1 pH correction → 2 sediment/rock &amp; grit removal → 3 pre-filtration → 4 RO → 5 carbon polishing → 6 UV/disinfection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8046720" y="1965960"/>
            <a:ext cx="3474720" cy="146304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600" b="1"/>
            </a:pPr>
            <a:r>
              <a:rPr dirty="0">
                <a:solidFill>
                  <a:srgbClr val="000000"/>
                </a:solidFill>
              </a:rPr>
              <a:t>DESIGN GOAL</a:t>
            </a:r>
          </a:p>
          <a:p>
            <a:pPr>
              <a:spcBef>
                <a:spcPts val="400"/>
              </a:spcBef>
              <a:defRPr sz="1200"/>
            </a:pPr>
            <a:r>
              <a:rPr sz="1600" dirty="0">
                <a:solidFill>
                  <a:srgbClr val="000000"/>
                </a:solidFill>
              </a:rPr>
              <a:t>Reduce dissolved salts, metals/chemicals, turbidity and microbes while producing usable treated water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11598" y="3917512"/>
            <a:ext cx="3931802" cy="1716372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600" b="1"/>
            </a:pPr>
            <a:r>
              <a:rPr sz="1600" dirty="0">
                <a:solidFill>
                  <a:srgbClr val="000000"/>
                </a:solidFill>
              </a:rPr>
              <a:t>HOW IT ADDRESSES THE PROBLEM</a:t>
            </a:r>
          </a:p>
          <a:p>
            <a:pPr>
              <a:spcBef>
                <a:spcPts val="400"/>
              </a:spcBef>
              <a:defRPr sz="1200"/>
            </a:pPr>
            <a:r>
              <a:rPr sz="1600" dirty="0">
                <a:solidFill>
                  <a:srgbClr val="000000"/>
                </a:solidFill>
              </a:rPr>
              <a:t>• Built for variable raw-water quality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Replaceable filter modules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Automatic pH/TDS/turbidity monitoring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Reject-water outlet for controlled disposal/reuse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326380" y="3867321"/>
            <a:ext cx="5440680" cy="1766564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600" b="1"/>
            </a:pPr>
            <a:r>
              <a:rPr dirty="0">
                <a:solidFill>
                  <a:srgbClr val="000000"/>
                </a:solidFill>
              </a:rPr>
              <a:t>INNOVATION &amp; UNIQUENESS</a:t>
            </a:r>
          </a:p>
          <a:p>
            <a:pPr>
              <a:spcBef>
                <a:spcPts val="400"/>
              </a:spcBef>
              <a:defRPr sz="1200"/>
            </a:pPr>
            <a:r>
              <a:rPr sz="1600" dirty="0">
                <a:solidFill>
                  <a:srgbClr val="000000"/>
                </a:solidFill>
              </a:rPr>
              <a:t>• Hybrid grid + battery + solar emergency operation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Modular six-stage architecture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Semi-portable chassis for farms, mine-adjacent settlements and field deployment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Sensor-driven protection of RO membrane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000000"/>
                </a:solidFill>
              </a:rPr>
              <a:t>Hardware architecture and treatment flow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874519"/>
            <a:ext cx="297180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 dirty="0">
                <a:solidFill>
                  <a:srgbClr val="000000"/>
                </a:solidFill>
              </a:rPr>
              <a:t>1. pH REGULATOR</a:t>
            </a:r>
          </a:p>
          <a:p>
            <a:pPr>
              <a:spcBef>
                <a:spcPts val="400"/>
              </a:spcBef>
              <a:defRPr sz="1000"/>
            </a:pPr>
            <a:r>
              <a:rPr sz="1600" dirty="0">
                <a:solidFill>
                  <a:srgbClr val="000000"/>
                </a:solidFill>
              </a:rPr>
              <a:t>Dosing pump + pH sensor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Balances acidic/alkaline feed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977639" y="1825732"/>
            <a:ext cx="2971800" cy="1332016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 dirty="0">
                <a:solidFill>
                  <a:srgbClr val="000000"/>
                </a:solidFill>
              </a:rPr>
              <a:t>2. GRIT / ROCK REMOVER</a:t>
            </a:r>
          </a:p>
          <a:p>
            <a:pPr>
              <a:spcBef>
                <a:spcPts val="400"/>
              </a:spcBef>
              <a:defRPr sz="1000"/>
            </a:pPr>
            <a:r>
              <a:rPr sz="1600" dirty="0">
                <a:solidFill>
                  <a:srgbClr val="000000"/>
                </a:solidFill>
              </a:rPr>
              <a:t>Coarse screen + settling chamber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Captures stones, sand &amp; heavy solids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360920" y="1874519"/>
            <a:ext cx="297180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 dirty="0">
                <a:solidFill>
                  <a:srgbClr val="000000"/>
                </a:solidFill>
              </a:rPr>
              <a:t>3. PRE-FILTER</a:t>
            </a:r>
          </a:p>
          <a:p>
            <a:pPr>
              <a:spcBef>
                <a:spcPts val="400"/>
              </a:spcBef>
              <a:defRPr sz="1000"/>
            </a:pPr>
            <a:r>
              <a:rPr sz="1600" dirty="0">
                <a:solidFill>
                  <a:srgbClr val="000000"/>
                </a:solidFill>
              </a:rPr>
              <a:t>Sediment + activated-media prefilter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Protects RO membrane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94358" y="3223258"/>
            <a:ext cx="2971800" cy="1371602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 dirty="0">
                <a:solidFill>
                  <a:srgbClr val="000000"/>
                </a:solidFill>
              </a:rPr>
              <a:t>4. RO PURIFIER</a:t>
            </a:r>
          </a:p>
          <a:p>
            <a:pPr>
              <a:spcBef>
                <a:spcPts val="400"/>
              </a:spcBef>
              <a:defRPr sz="1000"/>
            </a:pPr>
            <a:r>
              <a:rPr sz="1600" dirty="0">
                <a:solidFill>
                  <a:srgbClr val="000000"/>
                </a:solidFill>
              </a:rPr>
              <a:t>High-pressure pump + RO membrane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Removes dissolved salts and many contaminants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977639" y="3300362"/>
            <a:ext cx="2971800" cy="1332016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 dirty="0">
                <a:solidFill>
                  <a:srgbClr val="000000"/>
                </a:solidFill>
              </a:rPr>
              <a:t>5. CARBON POLISHING</a:t>
            </a:r>
          </a:p>
          <a:p>
            <a:pPr>
              <a:spcBef>
                <a:spcPts val="400"/>
              </a:spcBef>
              <a:defRPr sz="1000"/>
            </a:pPr>
            <a:r>
              <a:rPr sz="1600" dirty="0">
                <a:solidFill>
                  <a:srgbClr val="000000"/>
                </a:solidFill>
              </a:rPr>
              <a:t>Activated carbon stage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Improves taste/</a:t>
            </a:r>
            <a:r>
              <a:rPr sz="1600" dirty="0" err="1">
                <a:solidFill>
                  <a:srgbClr val="000000"/>
                </a:solidFill>
              </a:rPr>
              <a:t>odour</a:t>
            </a:r>
            <a:r>
              <a:rPr sz="1600" dirty="0">
                <a:solidFill>
                  <a:srgbClr val="000000"/>
                </a:solidFill>
              </a:rPr>
              <a:t> and reduces residual organics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360920" y="3223258"/>
            <a:ext cx="2971800" cy="1303022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300" b="1"/>
            </a:pPr>
            <a:r>
              <a:rPr dirty="0">
                <a:solidFill>
                  <a:srgbClr val="000000"/>
                </a:solidFill>
              </a:rPr>
              <a:t>6. UV / FINAL DISINFECTION</a:t>
            </a:r>
          </a:p>
          <a:p>
            <a:pPr>
              <a:spcBef>
                <a:spcPts val="400"/>
              </a:spcBef>
              <a:defRPr sz="1000"/>
            </a:pPr>
            <a:r>
              <a:rPr sz="1600" dirty="0">
                <a:solidFill>
                  <a:srgbClr val="000000"/>
                </a:solidFill>
              </a:rPr>
              <a:t>UV-C chamber + final micron filter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Controls microbial contamination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4360" y="4800599"/>
            <a:ext cx="5623560" cy="1177413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400" b="1"/>
            </a:pPr>
            <a:r>
              <a:rPr dirty="0">
                <a:solidFill>
                  <a:srgbClr val="000000"/>
                </a:solidFill>
              </a:rPr>
              <a:t>POWER SYSTEM</a:t>
            </a:r>
          </a:p>
          <a:p>
            <a:pPr>
              <a:spcBef>
                <a:spcPts val="400"/>
              </a:spcBef>
              <a:defRPr sz="1100"/>
            </a:pPr>
            <a:r>
              <a:rPr sz="1600" dirty="0">
                <a:solidFill>
                  <a:srgbClr val="000000"/>
                </a:solidFill>
              </a:rPr>
              <a:t>230 V AC primary → charge controller → </a:t>
            </a:r>
            <a:r>
              <a:rPr sz="1600" dirty="0" err="1">
                <a:solidFill>
                  <a:srgbClr val="000000"/>
                </a:solidFill>
              </a:rPr>
              <a:t>LiFePO</a:t>
            </a:r>
            <a:r>
              <a:rPr sz="1600" dirty="0">
                <a:solidFill>
                  <a:srgbClr val="000000"/>
                </a:solidFill>
              </a:rPr>
              <a:t>₄ battery → DC/AC loads; solar panel provides emergency/backup charging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446520" y="4800600"/>
            <a:ext cx="3886200" cy="1177412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400" b="1"/>
            </a:pPr>
            <a:r>
              <a:rPr dirty="0">
                <a:solidFill>
                  <a:srgbClr val="000000"/>
                </a:solidFill>
              </a:rPr>
              <a:t>CONTROL &amp; SAFETY</a:t>
            </a:r>
          </a:p>
          <a:p>
            <a:pPr>
              <a:spcBef>
                <a:spcPts val="400"/>
              </a:spcBef>
              <a:defRPr sz="1100"/>
            </a:pPr>
            <a:r>
              <a:rPr sz="1600" dirty="0">
                <a:solidFill>
                  <a:srgbClr val="000000"/>
                </a:solidFill>
              </a:rPr>
              <a:t>ESP32/PLC controller • pH/TDS/turbidity sensors • low-water cutoff • pressure switch • leak protection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000000"/>
                </a:solidFill>
              </a:rPr>
              <a:t>Feasibility, field operation and risk controls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40080" y="1754510"/>
            <a:ext cx="3429000" cy="162877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 dirty="0">
                <a:solidFill>
                  <a:srgbClr val="000000"/>
                </a:solidFill>
              </a:rPr>
              <a:t>FEASIBILITY</a:t>
            </a:r>
          </a:p>
          <a:p>
            <a:pPr>
              <a:spcBef>
                <a:spcPts val="400"/>
              </a:spcBef>
              <a:defRPr sz="1100"/>
            </a:pPr>
            <a:r>
              <a:rPr sz="1600" dirty="0">
                <a:solidFill>
                  <a:srgbClr val="000000"/>
                </a:solidFill>
              </a:rPr>
              <a:t>Commercial RO membranes, pumps, UV modules, sensors and </a:t>
            </a:r>
            <a:r>
              <a:rPr sz="1600" dirty="0" err="1">
                <a:solidFill>
                  <a:srgbClr val="000000"/>
                </a:solidFill>
              </a:rPr>
              <a:t>LiFePO</a:t>
            </a:r>
            <a:r>
              <a:rPr sz="1600" dirty="0">
                <a:solidFill>
                  <a:srgbClr val="000000"/>
                </a:solidFill>
              </a:rPr>
              <a:t>₄ batteries are readily available. A wheeled enclosure keeps the system semi-portable.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66260" y="1709428"/>
            <a:ext cx="3429000" cy="162877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 dirty="0">
                <a:solidFill>
                  <a:srgbClr val="000000"/>
                </a:solidFill>
              </a:rPr>
              <a:t>FIELD OPERATION</a:t>
            </a:r>
          </a:p>
          <a:p>
            <a:pPr>
              <a:spcBef>
                <a:spcPts val="400"/>
              </a:spcBef>
              <a:defRPr sz="1100"/>
            </a:pPr>
            <a:r>
              <a:rPr sz="1600" dirty="0">
                <a:solidFill>
                  <a:srgbClr val="000000"/>
                </a:solidFill>
              </a:rPr>
              <a:t>Feed tank → 6-stage treatment → clean-water tank. Typical deployment can be designed around 100–250 L/h, subject to feed-water testing and membrane selection.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065586" y="1759268"/>
            <a:ext cx="3429000" cy="1532253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 dirty="0">
                <a:solidFill>
                  <a:srgbClr val="000000"/>
                </a:solidFill>
              </a:rPr>
              <a:t>MAINTENANCE</a:t>
            </a:r>
          </a:p>
          <a:p>
            <a:pPr>
              <a:spcBef>
                <a:spcPts val="400"/>
              </a:spcBef>
              <a:defRPr sz="1100"/>
            </a:pPr>
            <a:r>
              <a:rPr sz="1600" dirty="0">
                <a:solidFill>
                  <a:srgbClr val="000000"/>
                </a:solidFill>
              </a:rPr>
              <a:t>Scheduled sediment-filter replacement, membrane flushing, UV inspection and calibration of pH/TDS/turbidity sensors.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40080" y="3474720"/>
            <a:ext cx="5212080" cy="162877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 dirty="0">
                <a:solidFill>
                  <a:srgbClr val="000000"/>
                </a:solidFill>
              </a:rPr>
              <a:t>KEY CHALLENGES</a:t>
            </a:r>
          </a:p>
          <a:p>
            <a:pPr>
              <a:spcBef>
                <a:spcPts val="400"/>
              </a:spcBef>
              <a:defRPr sz="1100"/>
            </a:pPr>
            <a:r>
              <a:rPr sz="1600" dirty="0">
                <a:solidFill>
                  <a:srgbClr val="000000"/>
                </a:solidFill>
              </a:rPr>
              <a:t>• Highly variable mining/agricultural feed water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RO concentrate management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Membrane fouling/scaling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Power interruptions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Transport weight and water storage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080760" y="3474720"/>
            <a:ext cx="5394960" cy="162877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 dirty="0">
                <a:solidFill>
                  <a:srgbClr val="000000"/>
                </a:solidFill>
              </a:rPr>
              <a:t>MITIGATION</a:t>
            </a:r>
          </a:p>
          <a:p>
            <a:pPr>
              <a:spcBef>
                <a:spcPts val="400"/>
              </a:spcBef>
              <a:defRPr sz="1100"/>
            </a:pPr>
            <a:r>
              <a:rPr sz="1600" dirty="0">
                <a:solidFill>
                  <a:srgbClr val="000000"/>
                </a:solidFill>
              </a:rPr>
              <a:t>• Pre-screen + staged filtration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pH control and pressure monitoring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Automatic high-TDS/low-flow alarms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Battery ride-through + solar emergency charging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Lockable wheeled frame and modular service access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000000"/>
                </a:solidFill>
              </a:rPr>
              <a:t>Expected impact and measurable benefits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40080" y="1874519"/>
            <a:ext cx="342900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 dirty="0">
                <a:solidFill>
                  <a:srgbClr val="000000"/>
                </a:solidFill>
              </a:rPr>
              <a:t>TARGET USERS</a:t>
            </a:r>
          </a:p>
          <a:p>
            <a:pPr>
              <a:spcBef>
                <a:spcPts val="400"/>
              </a:spcBef>
              <a:defRPr sz="1200"/>
            </a:pPr>
            <a:r>
              <a:rPr sz="1600" dirty="0">
                <a:solidFill>
                  <a:srgbClr val="000000"/>
                </a:solidFill>
              </a:rPr>
              <a:t>Mine-adjacent communities • agricultural workers • small farms • field camps • emergency water points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43400" y="1782759"/>
            <a:ext cx="3429000" cy="1600839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 dirty="0">
                <a:solidFill>
                  <a:srgbClr val="000000"/>
                </a:solidFill>
              </a:rPr>
              <a:t>HEALTH &amp; SOCIAL</a:t>
            </a:r>
          </a:p>
          <a:p>
            <a:pPr>
              <a:spcBef>
                <a:spcPts val="400"/>
              </a:spcBef>
              <a:defRPr sz="1100"/>
            </a:pPr>
            <a:r>
              <a:rPr sz="1600" dirty="0">
                <a:solidFill>
                  <a:srgbClr val="000000"/>
                </a:solidFill>
              </a:rPr>
              <a:t>Provides a controlled treatment train for contaminated/variable raw water; supports safer access to treated water where centralized treatment is limited.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065586" y="1805937"/>
            <a:ext cx="3429000" cy="1554481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 dirty="0">
                <a:solidFill>
                  <a:srgbClr val="000000"/>
                </a:solidFill>
              </a:rPr>
              <a:t>ECONOMIC</a:t>
            </a:r>
          </a:p>
          <a:p>
            <a:pPr>
              <a:spcBef>
                <a:spcPts val="400"/>
              </a:spcBef>
              <a:defRPr sz="1100"/>
            </a:pPr>
            <a:r>
              <a:rPr sz="1600" dirty="0">
                <a:solidFill>
                  <a:srgbClr val="000000"/>
                </a:solidFill>
              </a:rPr>
              <a:t>Semi-portable deployment reduces dependence on transporting treated water; modular components can be serviced individually.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40080" y="3611880"/>
            <a:ext cx="5212080" cy="1745046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 dirty="0">
                <a:solidFill>
                  <a:srgbClr val="000000"/>
                </a:solidFill>
              </a:rPr>
              <a:t>ENVIRONMENTAL</a:t>
            </a:r>
          </a:p>
          <a:p>
            <a:pPr>
              <a:spcBef>
                <a:spcPts val="400"/>
              </a:spcBef>
              <a:defRPr sz="1100"/>
            </a:pPr>
            <a:r>
              <a:rPr dirty="0">
                <a:solidFill>
                  <a:srgbClr val="000000"/>
                </a:solidFill>
              </a:rPr>
              <a:t>• </a:t>
            </a:r>
            <a:r>
              <a:rPr sz="1600" dirty="0">
                <a:solidFill>
                  <a:srgbClr val="000000"/>
                </a:solidFill>
              </a:rPr>
              <a:t>Solar emergency charging reduces dependence on grid power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Efficient pre-treatment extends membrane life</a:t>
            </a:r>
            <a:br>
              <a:rPr sz="1600" dirty="0"/>
            </a:br>
            <a:r>
              <a:rPr sz="1600" dirty="0">
                <a:solidFill>
                  <a:srgbClr val="000000"/>
                </a:solidFill>
              </a:rPr>
              <a:t>• Reject water can be separately managed based on contaminant testing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080760" y="3611880"/>
            <a:ext cx="5394960" cy="1745046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r>
              <a:rPr dirty="0">
                <a:solidFill>
                  <a:srgbClr val="000000"/>
                </a:solidFill>
              </a:rPr>
              <a:t>MEASUREMENT PLAN</a:t>
            </a:r>
          </a:p>
          <a:p>
            <a:pPr>
              <a:spcBef>
                <a:spcPts val="400"/>
              </a:spcBef>
              <a:defRPr sz="1100"/>
            </a:pPr>
            <a:r>
              <a:rPr sz="1600" dirty="0">
                <a:solidFill>
                  <a:srgbClr val="000000"/>
                </a:solidFill>
              </a:rPr>
              <a:t>Track inlet/outlet pH, TDS, turbidity, conductivity and microbial indicators. Compare before/after values and record filter life, energy use and water recovery.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640080" y="1828800"/>
            <a:ext cx="530352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1828800"/>
            <a:ext cx="530352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534924" y="3513502"/>
            <a:ext cx="1083564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>
              <a:defRPr sz="1500" b="1"/>
            </a:pPr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685800" y="52578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58368" y="1110215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solidFill>
                  <a:srgbClr val="000000"/>
                </a:solidFill>
              </a:rPr>
              <a:t>Actual water-quality evidence supporting the design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49224" y="1535570"/>
            <a:ext cx="3657600" cy="1860645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rgbClr val="000000"/>
                </a:solidFill>
              </a:rPr>
              <a:t>MINING — IB VALLEY COALFIELD, INDIA</a:t>
            </a:r>
          </a:p>
          <a:p>
            <a:pPr>
              <a:spcBef>
                <a:spcPts val="300"/>
              </a:spcBef>
              <a:defRPr sz="1050"/>
            </a:pPr>
            <a:r>
              <a:rPr sz="1600" dirty="0">
                <a:solidFill>
                  <a:srgbClr val="000000"/>
                </a:solidFill>
              </a:rPr>
              <a:t>A 2024 study of 102 mine-water/groundwater samples reported mine-water pH of 3.26–8.18. Mn was dominant among several metals; Fe, Mn and Al were major objectionable metals for drinking-water quality.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407408" y="1535569"/>
            <a:ext cx="3474720" cy="1892899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rgbClr val="000000"/>
                </a:solidFill>
              </a:rPr>
              <a:t>MINING — IRON-MINING IMPACTED AREA, JHARKHAND</a:t>
            </a:r>
          </a:p>
          <a:p>
            <a:pPr>
              <a:spcBef>
                <a:spcPts val="300"/>
              </a:spcBef>
              <a:defRPr sz="1050"/>
            </a:pPr>
            <a:r>
              <a:rPr sz="1600" dirty="0">
                <a:solidFill>
                  <a:srgbClr val="000000"/>
                </a:solidFill>
              </a:rPr>
              <a:t>Fe and Mn exceeded drinking-water standards in about 75% of groundwater samples across seasons. Highest metal concentrations occurred near active mining locations.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046720" y="1475975"/>
            <a:ext cx="3474720" cy="1952493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rgbClr val="000000"/>
                </a:solidFill>
              </a:rPr>
              <a:t>AGRICULTURE — DHARAPURAM, SOUTH INDIA</a:t>
            </a:r>
          </a:p>
          <a:p>
            <a:pPr>
              <a:spcBef>
                <a:spcPts val="300"/>
              </a:spcBef>
              <a:defRPr sz="1050"/>
            </a:pPr>
            <a:r>
              <a:rPr sz="1600" dirty="0">
                <a:solidFill>
                  <a:srgbClr val="000000"/>
                </a:solidFill>
              </a:rPr>
              <a:t>A recent groundwater study found TDS above the permissible limit in 11.76% of samples, nitrate in 32.35%, and fluoride in 23.53%. Agricultural runoff was identified as a contributing factor.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4360" y="3520440"/>
            <a:ext cx="5257800" cy="1517008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rgbClr val="000000"/>
                </a:solidFill>
              </a:rPr>
              <a:t>AGRICULTURE — THANJAVUR, TAMIL NADU</a:t>
            </a:r>
          </a:p>
          <a:p>
            <a:pPr>
              <a:spcBef>
                <a:spcPts val="300"/>
              </a:spcBef>
              <a:defRPr sz="1050"/>
            </a:pPr>
            <a:r>
              <a:rPr sz="1600" dirty="0">
                <a:solidFill>
                  <a:srgbClr val="000000"/>
                </a:solidFill>
              </a:rPr>
              <a:t>A groundwater study of 102 samples found 13% with elevated nitrate (&gt;45 mg/L as NO₃). The study linked nitrate/chloride/sulfate patterns to surface contamination including agricultural and domestic activities.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053328" y="3520439"/>
            <a:ext cx="5468112" cy="1527669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rgbClr val="000000"/>
                </a:solidFill>
              </a:rPr>
              <a:t>WHAT THIS MEANS FOR OUR HARDWARE</a:t>
            </a:r>
          </a:p>
          <a:p>
            <a:pPr>
              <a:spcBef>
                <a:spcPts val="300"/>
              </a:spcBef>
              <a:defRPr sz="1050"/>
            </a:pPr>
            <a:r>
              <a:rPr sz="1600" dirty="0">
                <a:solidFill>
                  <a:srgbClr val="000000"/>
                </a:solidFill>
              </a:rPr>
              <a:t>The unit cannot assume one fixed 'dirty-water' profile. Sensor monitoring + staged solids removal + pH control + RO + carbon + UV gives a configurable treatment train for variable field water.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40080" y="5140078"/>
            <a:ext cx="10927080" cy="834083"/>
          </a:xfrm>
          <a:prstGeom prst="roundRect">
            <a:avLst/>
          </a:prstGeom>
          <a:solidFill>
            <a:srgbClr val="F5F8FA"/>
          </a:solidFill>
          <a:ln>
            <a:solidFill>
              <a:srgbClr val="50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>
                <a:solidFill>
                  <a:srgbClr val="000000"/>
                </a:solidFill>
              </a:rPr>
              <a:t>VALIDATION BEFORE DEPLOYMENT</a:t>
            </a:r>
          </a:p>
          <a:p>
            <a:pPr>
              <a:spcBef>
                <a:spcPts val="300"/>
              </a:spcBef>
              <a:defRPr sz="1050"/>
            </a:pPr>
            <a:r>
              <a:rPr sz="1600" dirty="0">
                <a:solidFill>
                  <a:srgbClr val="000000"/>
                </a:solidFill>
              </a:rPr>
              <a:t>For each selected site, test inlet/outlet pH, EC/TDS, turbidity, nitrate, hardness, Fe/Mn and microbial indicators; add fluoride/arsenic/pesticide tests where local risk warrants. Final removal claims will be based on pilot-test results.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81388" y="5996471"/>
            <a:ext cx="1052090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/>
            </a:pPr>
            <a:r>
              <a:rPr dirty="0">
                <a:solidFill>
                  <a:srgbClr val="000000"/>
                </a:solidFill>
              </a:rPr>
              <a:t>Sources: Pandey et al., Heavy metal geochemistry… </a:t>
            </a:r>
            <a:r>
              <a:rPr dirty="0" err="1">
                <a:solidFill>
                  <a:srgbClr val="000000"/>
                </a:solidFill>
              </a:rPr>
              <a:t>Ib</a:t>
            </a:r>
            <a:r>
              <a:rPr dirty="0">
                <a:solidFill>
                  <a:srgbClr val="000000"/>
                </a:solidFill>
              </a:rPr>
              <a:t> Valley coalfield (2024); iron-mining impacted groundwater study, Jharkhand (2023); Dharapuram groundwater nitrate/fluoride study (2025); Thanjavur groundwater study. Standards: BIS IS 10500 / WHO drinking-water guidance.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7539</TotalTime>
  <Words>971</Words>
  <Application>Microsoft Office PowerPoint</Application>
  <PresentationFormat>Widescreen</PresentationFormat>
  <Paragraphs>94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Parthivpc2@outlook.com</cp:lastModifiedBy>
  <cp:revision>151</cp:revision>
  <dcterms:created xsi:type="dcterms:W3CDTF">2013-12-12T18:46:50Z</dcterms:created>
  <dcterms:modified xsi:type="dcterms:W3CDTF">2026-09-18T03:37:33Z</dcterms:modified>
  <cp:category/>
</cp:coreProperties>
</file>